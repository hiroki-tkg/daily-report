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AND PLANTS</c:v>
                </c:pt>
              </c:strCache>
            </c:strRef>
          </c:tx>
          <c:spPr>
            <a:solidFill>
              <a:srgbClr val="0043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29292"/>
                    </a:solidFill>
                    <a:latin typeface="Century 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3Q '21</c:v>
                  </c:pt>
                  <c:pt idx="1">
                    <c:v>4Q</c:v>
                  </c:pt>
                  <c:pt idx="2">
                    <c:v>1Q '22</c:v>
                  </c:pt>
                  <c:pt idx="3">
                    <c:v>2Q</c:v>
                  </c:pt>
                  <c:pt idx="4">
                    <c:v>3Q</c:v>
                  </c:pt>
                  <c:pt idx="5">
                    <c:v>4Q</c:v>
                  </c:pt>
                  <c:pt idx="6">
                    <c:v>1Q '23</c:v>
                  </c:pt>
                  <c:pt idx="7">
                    <c:v>2Q</c:v>
                  </c:pt>
                  <c:pt idx="8">
                    <c:v>3Q</c:v>
                  </c:pt>
                  <c:pt idx="9">
                    <c:v>4Q</c:v>
                  </c:pt>
                  <c:pt idx="10">
                    <c:v>1Q '24</c:v>
                  </c:pt>
                  <c:pt idx="11">
                    <c:v>2Q</c:v>
                  </c:pt>
                  <c:pt idx="12">
                    <c:v>3Q</c:v>
                  </c:pt>
                  <c:pt idx="13">
                    <c:v>4Q</c:v>
                  </c:pt>
                  <c:pt idx="14">
                    <c:v>1Q '25</c:v>
                  </c:pt>
                  <c:pt idx="15">
                    <c:v>2Q</c:v>
                  </c:pt>
                  <c:pt idx="16">
                    <c:v>3Q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7</c:v>
                </c:pt>
                <c:pt idx="2">
                  <c:v>17</c:v>
                </c:pt>
                <c:pt idx="3">
                  <c:v>28</c:v>
                </c:pt>
                <c:pt idx="4">
                  <c:v>32</c:v>
                </c:pt>
                <c:pt idx="5">
                  <c:v>32</c:v>
                </c:pt>
                <c:pt idx="6">
                  <c:v>36</c:v>
                </c:pt>
                <c:pt idx="7">
                  <c:v>50</c:v>
                </c:pt>
                <c:pt idx="8">
                  <c:v>75</c:v>
                </c:pt>
                <c:pt idx="9">
                  <c:v>70</c:v>
                </c:pt>
                <c:pt idx="10">
                  <c:v>78</c:v>
                </c:pt>
                <c:pt idx="11">
                  <c:v>110</c:v>
                </c:pt>
                <c:pt idx="12">
                  <c:v>168</c:v>
                </c:pt>
                <c:pt idx="13">
                  <c:v>146</c:v>
                </c:pt>
                <c:pt idx="14">
                  <c:v>151</c:v>
                </c:pt>
                <c:pt idx="15">
                  <c:v>186</c:v>
                </c:pt>
                <c:pt idx="16">
                  <c:v>235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ハナイチ</c:v>
                </c:pt>
              </c:strCache>
            </c:strRef>
          </c:tx>
          <c:spPr>
            <a:solidFill>
              <a:srgbClr val="F8BA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29292"/>
                    </a:solidFill>
                    <a:latin typeface="Century 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3Q '21</c:v>
                  </c:pt>
                  <c:pt idx="1">
                    <c:v>4Q</c:v>
                  </c:pt>
                  <c:pt idx="2">
                    <c:v>1Q '22</c:v>
                  </c:pt>
                  <c:pt idx="3">
                    <c:v>2Q</c:v>
                  </c:pt>
                  <c:pt idx="4">
                    <c:v>3Q</c:v>
                  </c:pt>
                  <c:pt idx="5">
                    <c:v>4Q</c:v>
                  </c:pt>
                  <c:pt idx="6">
                    <c:v>1Q '23</c:v>
                  </c:pt>
                  <c:pt idx="7">
                    <c:v>2Q</c:v>
                  </c:pt>
                  <c:pt idx="8">
                    <c:v>3Q</c:v>
                  </c:pt>
                  <c:pt idx="9">
                    <c:v>4Q</c:v>
                  </c:pt>
                  <c:pt idx="10">
                    <c:v>1Q '24</c:v>
                  </c:pt>
                  <c:pt idx="11">
                    <c:v>2Q</c:v>
                  </c:pt>
                  <c:pt idx="12">
                    <c:v>3Q</c:v>
                  </c:pt>
                  <c:pt idx="13">
                    <c:v>4Q</c:v>
                  </c:pt>
                  <c:pt idx="14">
                    <c:v>1Q '25</c:v>
                  </c:pt>
                  <c:pt idx="15">
                    <c:v>2Q</c:v>
                  </c:pt>
                  <c:pt idx="16">
                    <c:v>3Q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</c:v>
                </c:pt>
                <c:pt idx="12">
                  <c:v>7</c:v>
                </c:pt>
                <c:pt idx="13">
                  <c:v>7</c:v>
                </c:pt>
                <c:pt idx="14">
                  <c:v>4</c:v>
                </c:pt>
                <c:pt idx="15">
                  <c:v>4</c:v>
                </c:pt>
                <c:pt idx="16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929292"/>
                  </a:solidFill>
                  <a:latin typeface="Century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29292"/>
                </a:solidFill>
                <a:latin typeface="Century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29292"/>
                </a:solidFill>
                <a:latin typeface="Century Gothic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10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11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12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13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14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15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16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17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/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ja-JP"/>
              <a:t>18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1000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null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Hiragino Sans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Hiragino Sans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Hiragino Sans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Hiragino Sans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Hiragino Sans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Hiragino Sans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Hiragino Sans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Hiragino Sans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Hiragino Sans"/>
          <a:cs typeface="+mn-cs"/>
        </a:defRPr>
      </a:lvl9pPr>
    </p:bodyStyle>
    <p:otherStyle>
      <a:defPPr>
        <a:defRPr lang="en-US" altLang="ja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45720" y="-320040"/>
            <a:ext cx="9235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20500" b="1" spc="400" kern="0" dirty="0">
                <a:solidFill>
                  <a:srgbClr val="F7F7F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</a:t>
            </a:r>
            <a:endParaRPr lang="en-US" altLang="ja-JP" sz="20500" dirty="0"/>
          </a:p>
        </p:txBody>
      </p:sp>
      <p:sp>
        <p:nvSpPr>
          <p:cNvPr id="3" name="Text 1"/>
          <p:cNvSpPr txBox="1"/>
          <p:nvPr/>
        </p:nvSpPr>
        <p:spPr>
          <a:xfrm>
            <a:off x="-45720" y="1965960"/>
            <a:ext cx="9235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20500" b="1" spc="400" kern="0" dirty="0">
                <a:solidFill>
                  <a:srgbClr val="F7F7F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</a:t>
            </a:r>
            <a:endParaRPr lang="en-US" altLang="ja-JP" sz="20500" dirty="0"/>
          </a:p>
        </p:txBody>
      </p:sp>
      <p:sp>
        <p:nvSpPr>
          <p:cNvPr id="4" name="Text 2"/>
          <p:cNvSpPr txBox="1"/>
          <p:nvPr/>
        </p:nvSpPr>
        <p:spPr>
          <a:xfrm>
            <a:off x="-45720" y="4251960"/>
            <a:ext cx="9235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20500" b="1" spc="400" kern="0" dirty="0">
                <a:solidFill>
                  <a:srgbClr val="F7F7F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</a:t>
            </a:r>
            <a:endParaRPr lang="en-US" altLang="ja-JP" sz="20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COMPANY PROFILE -</a:t>
            </a:r>
            <a:endParaRPr lang="en-US" altLang="ja-JP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altLang="ja-JP" sz="3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花卉産業DX／プラットフォーム</a:t>
            </a:r>
            <a:endParaRPr lang="en-US" altLang="ja-JP" sz="3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altLang="ja-JP" sz="3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事業概要資料</a:t>
            </a:r>
            <a:endParaRPr lang="en-US" altLang="ja-JP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 — COMPANY PROFILE</a:t>
            </a:r>
            <a:endParaRPr lang="en-US" altLang="ja-JP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434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2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2026.09</a:t>
            </a:r>
            <a:endParaRPr lang="en-US" altLang="ja-JP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709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100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株式会社Domuz　代表取締役　髙木 弘貴</a:t>
            </a:r>
            <a:endParaRPr lang="en-US" altLang="ja-JP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pic>
        <p:nvPicPr>
          <p:cNvPr id="11" name="Image 0" descr="andplan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342" y="5349240"/>
            <a:ext cx="798755" cy="457200"/>
          </a:xfrm>
          <a:prstGeom prst="rect">
            <a:avLst/>
          </a:prstGeom>
        </p:spPr>
      </p:pic>
      <p:pic>
        <p:nvPicPr>
          <p:cNvPr id="12" name="Image 1" descr="hanaichi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5385929"/>
            <a:ext cx="1371600" cy="3838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About Domuz -</a:t>
            </a:r>
            <a:endParaRPr lang="en-US" alt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2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花と植物の産業を、テクノロジーで前へ</a:t>
            </a:r>
            <a:endParaRPr lang="en-US" altLang="ja-JP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44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Flower &amp; plant industry DX platform</a:t>
            </a:r>
            <a:endParaRPr lang="en-US" altLang="ja-JP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</a:t>
            </a:r>
            <a:endParaRPr lang="en-US" altLang="ja-JP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Confidential</a:t>
            </a:r>
            <a:endParaRPr lang="en-US" altLang="ja-JP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pic>
        <p:nvPicPr>
          <p:cNvPr id="8" name="Image 0" descr="kv-andplants-greenhou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3977640" cy="21031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37581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8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AND PLANTS</a:t>
            </a:r>
            <a:pPr algn="l" indent="0" marL="0">
              <a:buNone/>
            </a:pPr>
            <a:r>
              <a:rPr lang="en-US" altLang="ja-JP" sz="8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  </a:t>
            </a:r>
            <a:pPr algn="l" indent="0" marL="0">
              <a:buNone/>
            </a:pPr>
            <a:r>
              <a:rPr lang="en-US" altLang="ja-JP" sz="850" spc="5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観葉植物・お花のオンラインストア</a:t>
            </a:r>
            <a:endParaRPr lang="en-US" altLang="ja-JP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554480"/>
            <a:ext cx="3886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9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観葉植物・お花のオンラインストア「AND PLANTS」を運営し、パーソナル診断による植物選びと、育てやすさに寄り添ったプロダクト・サポートを提供しています。</a:t>
            </a:r>
            <a:endParaRPr lang="en-US" altLang="ja-JP" sz="950" dirty="0"/>
          </a:p>
          <a:p>
            <a:pPr algn="l" indent="0" marL="0">
              <a:lnSpc>
                <a:spcPct val="150000"/>
              </a:lnSpc>
              <a:buNone/>
            </a:pPr>
            <a:endParaRPr lang="en-US" altLang="ja-JP" sz="9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altLang="ja-JP" sz="9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自社の花拠点から全国へ配送するフラワーギフト事業では、母の日・国際女性デーなど季節の企画を毎年展開。ECで培った品質管理・物流ノウハウを活かし、法人さまの一斉配送ギフトにも対応しています。</a:t>
            </a:r>
            <a:endParaRPr lang="en-US" altLang="ja-JP" sz="950" dirty="0"/>
          </a:p>
          <a:p>
            <a:pPr algn="l" indent="0" marL="0">
              <a:lnSpc>
                <a:spcPct val="150000"/>
              </a:lnSpc>
              <a:buNone/>
            </a:pPr>
            <a:endParaRPr lang="en-US" altLang="ja-JP" sz="9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altLang="ja-JP" sz="9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花卉事業者向けの卸マーケットプレイス「ハナイチ」も運営し、C向け・B向けの両面から花卉産業のDXに取り組んでいます。</a:t>
            </a:r>
            <a:endParaRPr lang="en-US" altLang="ja-JP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4343400"/>
            <a:ext cx="2560320" cy="1600200"/>
          </a:xfrm>
          <a:prstGeom prst="roundRect">
            <a:avLst>
              <a:gd name="adj" fmla="val 7937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5445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創業</a:t>
            </a:r>
            <a:endParaRPr lang="en-US" altLang="ja-JP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800600"/>
            <a:ext cx="21031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ja-JP" sz="3600" b="1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2018</a:t>
            </a:r>
            <a:pPr algn="l" indent="0" marL="0">
              <a:buNone/>
            </a:pPr>
            <a:r>
              <a:rPr lang="en-US" altLang="ja-JP" sz="1100" spc="1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 年</a:t>
            </a:r>
            <a:endParaRPr lang="en-US" altLang="ja-JP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4178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100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花卉産業DX事業の開始は 2021年</a:t>
            </a:r>
            <a:endParaRPr lang="en-US" altLang="ja-JP" sz="1000" dirty="0"/>
          </a:p>
        </p:txBody>
      </p:sp>
      <p:sp>
        <p:nvSpPr>
          <p:cNvPr id="15" name="Shape 12"/>
          <p:cNvSpPr/>
          <p:nvPr/>
        </p:nvSpPr>
        <p:spPr>
          <a:xfrm>
            <a:off x="3291840" y="4343400"/>
            <a:ext cx="2560320" cy="1600200"/>
          </a:xfrm>
          <a:prstGeom prst="roundRect">
            <a:avLst>
              <a:gd name="adj" fmla="val 7937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20440" y="45445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従業員数</a:t>
            </a:r>
            <a:endParaRPr lang="en-US" altLang="ja-JP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4800600"/>
            <a:ext cx="21031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ja-JP" sz="3600" b="1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65</a:t>
            </a:r>
            <a:pPr algn="l" indent="0" marL="0">
              <a:buNone/>
            </a:pPr>
            <a:r>
              <a:rPr lang="en-US" altLang="ja-JP" sz="1100" spc="1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 名</a:t>
            </a:r>
            <a:endParaRPr lang="en-US" altLang="ja-JP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54178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100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社員20名・アルバイト43名（2025年10月現在）</a:t>
            </a:r>
            <a:endParaRPr lang="en-US" altLang="ja-JP" sz="1000" dirty="0"/>
          </a:p>
        </p:txBody>
      </p:sp>
      <p:sp>
        <p:nvSpPr>
          <p:cNvPr id="19" name="Shape 16"/>
          <p:cNvSpPr/>
          <p:nvPr/>
        </p:nvSpPr>
        <p:spPr>
          <a:xfrm>
            <a:off x="6080760" y="4343400"/>
            <a:ext cx="2560320" cy="1600200"/>
          </a:xfrm>
          <a:prstGeom prst="roundRect">
            <a:avLst>
              <a:gd name="adj" fmla="val 7937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09360" y="45445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累計エクイティ調達額</a:t>
            </a:r>
            <a:endParaRPr lang="en-US" altLang="ja-JP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800600"/>
            <a:ext cx="21031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ja-JP" sz="3600" b="1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4.4</a:t>
            </a:r>
            <a:pPr algn="l" indent="0" marL="0">
              <a:buNone/>
            </a:pPr>
            <a:r>
              <a:rPr lang="en-US" altLang="ja-JP" sz="1100" spc="1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 億円</a:t>
            </a:r>
            <a:endParaRPr lang="en-US" altLang="ja-JP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54178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100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VC 7社・エンジェル投資家</a:t>
            </a:r>
            <a:endParaRPr lang="en-US" alt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2</a:t>
            </a:fld>
            <a:endParaRPr lang="en-US" alt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8346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4000" b="1" spc="1000" kern="0" dirty="0">
                <a:solidFill>
                  <a:srgbClr val="FFFFFF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OUR BUSINESS</a:t>
            </a:r>
            <a:endParaRPr lang="en-US" altLang="ja-JP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703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spc="300" kern="0" dirty="0">
                <a:solidFill>
                  <a:srgbClr val="A5BCBE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事業内容</a:t>
            </a:r>
            <a:endParaRPr lang="en-US" altLang="ja-JP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Our Business -</a:t>
            </a:r>
            <a:endParaRPr lang="en-US" alt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2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運営サービス</a:t>
            </a:r>
            <a:endParaRPr lang="en-US" altLang="ja-JP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44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Our services</a:t>
            </a:r>
            <a:endParaRPr lang="en-US" altLang="ja-JP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</a:t>
            </a:r>
            <a:endParaRPr lang="en-US" altLang="ja-JP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Confidential</a:t>
            </a:r>
            <a:endParaRPr lang="en-US" altLang="ja-JP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560320" cy="4617720"/>
          </a:xfrm>
          <a:prstGeom prst="roundRect">
            <a:avLst>
              <a:gd name="adj" fmla="val 496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pic>
        <p:nvPicPr>
          <p:cNvPr id="9" name="Image 0" descr="kv-andplants-greenhou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2286000" cy="1417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3337560"/>
            <a:ext cx="868680" cy="256032"/>
          </a:xfrm>
          <a:prstGeom prst="roundRect">
            <a:avLst>
              <a:gd name="adj" fmla="val 19841"/>
            </a:avLst>
          </a:prstGeom>
          <a:solidFill>
            <a:srgbClr val="DFE7E7"/>
          </a:solidFill>
          <a:ln w="12700">
            <a:solidFill>
              <a:srgbClr val="DFE7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3375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9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C向けEC</a:t>
            </a:r>
            <a:endParaRPr lang="en-US" altLang="ja-JP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721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500" b="1" spc="15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AND PLANTS</a:t>
            </a:r>
            <a:endParaRPr lang="en-US" altLang="ja-JP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032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観葉植物・生花D2C</a:t>
            </a:r>
            <a:endParaRPr lang="en-US" altLang="ja-JP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361688"/>
            <a:ext cx="22860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9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2021年より、観葉植物、生花、ドライフラワー、園芸グッズなどを中心に、個体差のある商品でも買いやすい領域特化型D2C事業を展開。</a:t>
            </a:r>
            <a:endParaRPr lang="en-US" altLang="ja-JP" sz="950" dirty="0"/>
          </a:p>
        </p:txBody>
      </p:sp>
      <p:sp>
        <p:nvSpPr>
          <p:cNvPr id="15" name="Shape 12"/>
          <p:cNvSpPr/>
          <p:nvPr/>
        </p:nvSpPr>
        <p:spPr>
          <a:xfrm>
            <a:off x="3291840" y="1554480"/>
            <a:ext cx="2560320" cy="4617720"/>
          </a:xfrm>
          <a:prstGeom prst="roundRect">
            <a:avLst>
              <a:gd name="adj" fmla="val 496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pic>
        <p:nvPicPr>
          <p:cNvPr id="16" name="Image 1" descr="bouquet-0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91640"/>
            <a:ext cx="2286000" cy="1417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429000" y="3337560"/>
            <a:ext cx="1225296" cy="256032"/>
          </a:xfrm>
          <a:prstGeom prst="roundRect">
            <a:avLst>
              <a:gd name="adj" fmla="val 19841"/>
            </a:avLst>
          </a:prstGeom>
          <a:solidFill>
            <a:srgbClr val="DFE7E7"/>
          </a:solidFill>
          <a:ln w="12700">
            <a:solidFill>
              <a:srgbClr val="DFE7E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429000" y="333756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9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C向け・法人向け</a:t>
            </a:r>
            <a:endParaRPr lang="en-US" altLang="ja-JP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3429000" y="3721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500" b="1" spc="15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AND FLOWER</a:t>
            </a:r>
            <a:endParaRPr lang="en-US" altLang="ja-JP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3429000" y="4032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フラワーギフトEC</a:t>
            </a:r>
            <a:endParaRPr lang="en-US" altLang="ja-JP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3429000" y="4361688"/>
            <a:ext cx="22860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9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自社の花拠点から全国へ配送するフラワーギフト。母の日・国際女性デーなどの季節企画、法人さまの一斉配送ギフト、他社ECへの「花を添えて贈る」オプション提供。</a:t>
            </a:r>
            <a:endParaRPr lang="en-US" altLang="ja-JP" sz="950" dirty="0"/>
          </a:p>
        </p:txBody>
      </p:sp>
      <p:sp>
        <p:nvSpPr>
          <p:cNvPr id="22" name="Shape 18"/>
          <p:cNvSpPr/>
          <p:nvPr/>
        </p:nvSpPr>
        <p:spPr>
          <a:xfrm>
            <a:off x="6080760" y="1554480"/>
            <a:ext cx="2560320" cy="4617720"/>
          </a:xfrm>
          <a:prstGeom prst="roundRect">
            <a:avLst>
              <a:gd name="adj" fmla="val 496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17920" y="1691640"/>
            <a:ext cx="2286000" cy="1417320"/>
          </a:xfrm>
          <a:prstGeom prst="roundRect">
            <a:avLst>
              <a:gd name="adj" fmla="val 71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2" descr="hanaichi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82801"/>
            <a:ext cx="1554480" cy="434999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217920" y="3337560"/>
            <a:ext cx="868680" cy="256032"/>
          </a:xfrm>
          <a:prstGeom prst="roundRect">
            <a:avLst>
              <a:gd name="adj" fmla="val 19841"/>
            </a:avLst>
          </a:prstGeom>
          <a:solidFill>
            <a:srgbClr val="DFE7E7"/>
          </a:solidFill>
          <a:ln w="12700">
            <a:solidFill>
              <a:srgbClr val="DFE7E7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217920" y="33375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9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B向けEC</a:t>
            </a:r>
            <a:endParaRPr lang="en-US" altLang="ja-JP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6217920" y="3721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500" b="1" spc="15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ハナイチ</a:t>
            </a:r>
            <a:endParaRPr lang="en-US" altLang="ja-JP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6217920" y="4032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花卉産業向け卸マーケットプレイス</a:t>
            </a:r>
            <a:endParaRPr lang="en-US" altLang="ja-JP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217920" y="4361688"/>
            <a:ext cx="22860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9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生花や植物などを販売する事業者に向けた卸のマーケットプレイス。生花、植物、資材など、花や植物に関わる事業者が必要な商材を販売。</a:t>
            </a:r>
            <a:endParaRPr lang="en-US" altLang="ja-JP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4</a:t>
            </a:fld>
            <a:endParaRPr lang="en-US" altLang="ja-JP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Our Business -</a:t>
            </a:r>
            <a:endParaRPr lang="en-US" alt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2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観葉植物と花のD2C「AND PLANTS」</a:t>
            </a:r>
            <a:endParaRPr lang="en-US" altLang="ja-JP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44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andplants.jp</a:t>
            </a:r>
            <a:endParaRPr lang="en-US" altLang="ja-JP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</a:t>
            </a:r>
            <a:endParaRPr lang="en-US" altLang="ja-JP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Confidential</a:t>
            </a:r>
            <a:endParaRPr lang="en-US" altLang="ja-JP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560320" cy="4617720"/>
          </a:xfrm>
          <a:prstGeom prst="roundRect">
            <a:avLst>
              <a:gd name="adj" fmla="val 496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13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扱っている商品</a:t>
            </a:r>
            <a:endParaRPr lang="en-US" altLang="ja-JP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560320" cy="4617720"/>
          </a:xfrm>
          <a:prstGeom prst="roundRect">
            <a:avLst>
              <a:gd name="adj" fmla="val 496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13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特徴的な機能</a:t>
            </a:r>
            <a:endParaRPr lang="en-US" altLang="ja-JP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554480"/>
            <a:ext cx="2560320" cy="4617720"/>
          </a:xfrm>
          <a:prstGeom prst="roundRect">
            <a:avLst>
              <a:gd name="adj" fmla="val 496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13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マーケティング</a:t>
            </a:r>
            <a:endParaRPr lang="en-US" altLang="ja-JP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148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b="1" spc="1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観葉植物</a:t>
            </a:r>
            <a:endParaRPr lang="en-US" altLang="ja-JP" sz="900" dirty="0"/>
          </a:p>
        </p:txBody>
      </p:sp>
      <p:pic>
        <p:nvPicPr>
          <p:cNvPr id="15" name="Image 0" descr="plant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386584"/>
            <a:ext cx="670560" cy="838200"/>
          </a:xfrm>
          <a:prstGeom prst="rect">
            <a:avLst/>
          </a:prstGeom>
        </p:spPr>
      </p:pic>
      <p:pic>
        <p:nvPicPr>
          <p:cNvPr id="16" name="Image 1" descr="plant-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386584"/>
            <a:ext cx="670560" cy="838200"/>
          </a:xfrm>
          <a:prstGeom prst="rect">
            <a:avLst/>
          </a:prstGeom>
        </p:spPr>
      </p:pic>
      <p:pic>
        <p:nvPicPr>
          <p:cNvPr id="17" name="Image 2" descr="plant-0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512" y="2386584"/>
            <a:ext cx="670560" cy="838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2920" y="3352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b="1" spc="1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花</a:t>
            </a:r>
            <a:endParaRPr lang="en-US" altLang="ja-JP" sz="900" dirty="0"/>
          </a:p>
        </p:txBody>
      </p:sp>
      <p:pic>
        <p:nvPicPr>
          <p:cNvPr id="19" name="Image 3" descr="flower-0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590544"/>
            <a:ext cx="670560" cy="838200"/>
          </a:xfrm>
          <a:prstGeom prst="rect">
            <a:avLst/>
          </a:prstGeom>
        </p:spPr>
      </p:pic>
      <p:pic>
        <p:nvPicPr>
          <p:cNvPr id="20" name="Image 4" descr="flower-02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3590544"/>
            <a:ext cx="670560" cy="838200"/>
          </a:xfrm>
          <a:prstGeom prst="rect">
            <a:avLst/>
          </a:prstGeom>
        </p:spPr>
      </p:pic>
      <p:pic>
        <p:nvPicPr>
          <p:cNvPr id="21" name="Image 5" descr="flower-0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1512" y="3590544"/>
            <a:ext cx="670560" cy="8382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02920" y="4556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b="1" spc="1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資材</a:t>
            </a:r>
            <a:endParaRPr lang="en-US" altLang="ja-JP" sz="900" dirty="0"/>
          </a:p>
        </p:txBody>
      </p:sp>
      <p:pic>
        <p:nvPicPr>
          <p:cNvPr id="23" name="Image 6" descr="goods-01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4794504"/>
            <a:ext cx="670560" cy="838200"/>
          </a:xfrm>
          <a:prstGeom prst="rect">
            <a:avLst/>
          </a:prstGeom>
        </p:spPr>
      </p:pic>
      <p:pic>
        <p:nvPicPr>
          <p:cNvPr id="24" name="Image 7" descr="goods-02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7800" y="4794504"/>
            <a:ext cx="670560" cy="838200"/>
          </a:xfrm>
          <a:prstGeom prst="rect">
            <a:avLst/>
          </a:prstGeom>
        </p:spPr>
      </p:pic>
      <p:pic>
        <p:nvPicPr>
          <p:cNvPr id="25" name="Image 8" descr="goods-03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1512" y="4794504"/>
            <a:ext cx="670560" cy="8382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115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個体差があっても</a:t>
            </a:r>
            <a:endParaRPr lang="en-US" altLang="ja-JP" sz="1150" dirty="0"/>
          </a:p>
          <a:p>
            <a:pPr algn="ctr" indent="0" marL="0">
              <a:buNone/>
            </a:pPr>
            <a:r>
              <a:rPr lang="en-US" altLang="ja-JP" sz="115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安心して買える仕組み</a:t>
            </a:r>
            <a:endParaRPr lang="en-US" altLang="ja-JP" sz="1150" dirty="0"/>
          </a:p>
        </p:txBody>
      </p:sp>
      <p:pic>
        <p:nvPicPr>
          <p:cNvPr id="27" name="Image 9" descr="plant-04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3008" y="2743200"/>
            <a:ext cx="906353" cy="100584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4509089" y="2743200"/>
            <a:ext cx="11419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900" b="1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配送前実物写真
</a:t>
            </a:r>
            <a:pPr algn="l" indent="0" marL="0">
              <a:lnSpc>
                <a:spcPct val="150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実際に届く商品を配送前に写真で確認。樹形を選べる機能なども提供。</a:t>
            </a:r>
            <a:endParaRPr lang="en-US" altLang="ja-JP" sz="1100" dirty="0"/>
          </a:p>
        </p:txBody>
      </p:sp>
      <p:sp>
        <p:nvSpPr>
          <p:cNvPr id="29" name="Text 17"/>
          <p:cNvSpPr txBox="1"/>
          <p:nvPr/>
        </p:nvSpPr>
        <p:spPr>
          <a:xfrm>
            <a:off x="329184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115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自社ロジスティクス</a:t>
            </a:r>
            <a:endParaRPr lang="en-US" altLang="ja-JP" sz="1150" dirty="0"/>
          </a:p>
        </p:txBody>
      </p:sp>
      <p:pic>
        <p:nvPicPr>
          <p:cNvPr id="30" name="Image 10" descr="greenhouse-01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93008" y="4325112"/>
            <a:ext cx="1042416" cy="868680"/>
          </a:xfrm>
          <a:prstGeom prst="rect">
            <a:avLst/>
          </a:prstGeom>
        </p:spPr>
      </p:pic>
      <p:pic>
        <p:nvPicPr>
          <p:cNvPr id="31" name="Image 11" descr="flower-hub-02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08576" y="4325112"/>
            <a:ext cx="1042416" cy="86868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3493008" y="5266944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産地と繋がり、自社でビニールハウスや大規模発送拠点を構えることで、質の高い商品管理と発送を実現。</a:t>
            </a:r>
            <a:endParaRPr lang="en-US" altLang="ja-JP" sz="850" dirty="0"/>
          </a:p>
        </p:txBody>
      </p:sp>
      <p:sp>
        <p:nvSpPr>
          <p:cNvPr id="33" name="Text 19"/>
          <p:cNvSpPr txBox="1"/>
          <p:nvPr/>
        </p:nvSpPr>
        <p:spPr>
          <a:xfrm>
            <a:off x="608076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115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ライフスタイル提案</a:t>
            </a:r>
            <a:endParaRPr lang="en-US" altLang="ja-JP" sz="1150" dirty="0"/>
          </a:p>
        </p:txBody>
      </p:sp>
      <p:pic>
        <p:nvPicPr>
          <p:cNvPr id="34" name="Image 12" descr="app-diagnosis-questio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2523744"/>
            <a:ext cx="777240" cy="1325880"/>
          </a:xfrm>
          <a:prstGeom prst="rect">
            <a:avLst/>
          </a:prstGeom>
        </p:spPr>
      </p:pic>
      <p:pic>
        <p:nvPicPr>
          <p:cNvPr id="35" name="Image 13" descr="app-diagnosis-scree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52360" y="2523744"/>
            <a:ext cx="777240" cy="1325880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6281928" y="3913632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診断機能で、暮らしにぴったりの植物・花を提案。「花や植物のある生活」というライフスタイル自体を訴求。</a:t>
            </a:r>
            <a:endParaRPr lang="en-US" altLang="ja-JP" sz="850" dirty="0"/>
          </a:p>
        </p:txBody>
      </p:sp>
      <p:sp>
        <p:nvSpPr>
          <p:cNvPr id="37" name="Text 21"/>
          <p:cNvSpPr txBox="1"/>
          <p:nvPr/>
        </p:nvSpPr>
        <p:spPr>
          <a:xfrm>
            <a:off x="6080760" y="4626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115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デジタルマーケティング</a:t>
            </a:r>
            <a:endParaRPr lang="en-US" altLang="ja-JP" sz="1150" dirty="0"/>
          </a:p>
        </p:txBody>
      </p:sp>
      <p:sp>
        <p:nvSpPr>
          <p:cNvPr id="38" name="Text 22"/>
          <p:cNvSpPr txBox="1"/>
          <p:nvPr/>
        </p:nvSpPr>
        <p:spPr>
          <a:xfrm>
            <a:off x="6281928" y="49926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サイト PV</a:t>
            </a:r>
            <a:endParaRPr lang="en-US" altLang="ja-JP" sz="900" dirty="0"/>
          </a:p>
        </p:txBody>
      </p:sp>
      <p:sp>
        <p:nvSpPr>
          <p:cNvPr id="39" name="Text 23"/>
          <p:cNvSpPr txBox="1"/>
          <p:nvPr/>
        </p:nvSpPr>
        <p:spPr>
          <a:xfrm>
            <a:off x="7360920" y="49926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altLang="ja-JP" sz="1600" b="1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120</a:t>
            </a:r>
            <a:pPr algn="r" indent="0" marL="0">
              <a:lnSpc>
                <a:spcPct val="160000"/>
              </a:lnSpc>
              <a:buNone/>
            </a:pPr>
            <a:r>
              <a:rPr lang="en-US" altLang="ja-JP" sz="85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 万PV/月</a:t>
            </a:r>
            <a:endParaRPr lang="en-US" altLang="ja-JP" sz="1100" dirty="0"/>
          </a:p>
        </p:txBody>
      </p:sp>
      <p:sp>
        <p:nvSpPr>
          <p:cNvPr id="40" name="Text 24"/>
          <p:cNvSpPr txBox="1"/>
          <p:nvPr/>
        </p:nvSpPr>
        <p:spPr>
          <a:xfrm>
            <a:off x="6281928" y="53035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LINE・メルマガ</a:t>
            </a:r>
            <a:endParaRPr lang="en-US" altLang="ja-JP" sz="900" dirty="0"/>
          </a:p>
        </p:txBody>
      </p:sp>
      <p:sp>
        <p:nvSpPr>
          <p:cNvPr id="41" name="Text 25"/>
          <p:cNvSpPr txBox="1"/>
          <p:nvPr/>
        </p:nvSpPr>
        <p:spPr>
          <a:xfrm>
            <a:off x="7360920" y="53035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altLang="ja-JP" sz="1600" b="1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30</a:t>
            </a:r>
            <a:pPr algn="r" indent="0" marL="0">
              <a:lnSpc>
                <a:spcPct val="160000"/>
              </a:lnSpc>
              <a:buNone/>
            </a:pPr>
            <a:r>
              <a:rPr lang="en-US" altLang="ja-JP" sz="85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 万名</a:t>
            </a:r>
            <a:endParaRPr lang="en-US" altLang="ja-JP" sz="1100" dirty="0"/>
          </a:p>
        </p:txBody>
      </p:sp>
      <p:sp>
        <p:nvSpPr>
          <p:cNvPr id="42" name="Text 26"/>
          <p:cNvSpPr txBox="1"/>
          <p:nvPr/>
        </p:nvSpPr>
        <p:spPr>
          <a:xfrm>
            <a:off x="6281928" y="5614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SNS フォロワー</a:t>
            </a:r>
            <a:endParaRPr lang="en-US" altLang="ja-JP" sz="900" dirty="0"/>
          </a:p>
        </p:txBody>
      </p:sp>
      <p:sp>
        <p:nvSpPr>
          <p:cNvPr id="43" name="Text 27"/>
          <p:cNvSpPr txBox="1"/>
          <p:nvPr/>
        </p:nvSpPr>
        <p:spPr>
          <a:xfrm>
            <a:off x="7360920" y="5614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altLang="ja-JP" sz="1600" b="1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30</a:t>
            </a:r>
            <a:pPr algn="r" indent="0" marL="0">
              <a:lnSpc>
                <a:spcPct val="160000"/>
              </a:lnSpc>
              <a:buNone/>
            </a:pPr>
            <a:r>
              <a:rPr lang="en-US" altLang="ja-JP" sz="85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 万人</a:t>
            </a:r>
            <a:endParaRPr lang="en-US" altLang="ja-JP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5</a:t>
            </a:fld>
            <a:endParaRPr lang="en-US" altLang="ja-JP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Our Business -</a:t>
            </a:r>
            <a:endParaRPr lang="en-US" alt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2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C向け事業とB向け事業のシナジー</a:t>
            </a:r>
            <a:endParaRPr lang="en-US" altLang="ja-JP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44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Retail × wholesale</a:t>
            </a:r>
            <a:endParaRPr lang="en-US" altLang="ja-JP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</a:t>
            </a:r>
            <a:endParaRPr lang="en-US" altLang="ja-JP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Confidential</a:t>
            </a:r>
            <a:endParaRPr lang="en-US" altLang="ja-JP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8138160" cy="3246120"/>
          </a:xfrm>
          <a:prstGeom prst="roundRect">
            <a:avLst>
              <a:gd name="adj" fmla="val 3912"/>
            </a:avLst>
          </a:prstGeom>
          <a:solidFill>
            <a:srgbClr val="F9F6EF"/>
          </a:solidFill>
          <a:ln w="12700">
            <a:solidFill>
              <a:srgbClr val="F9F6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719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altLang="ja-JP" sz="12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AND PLANTS EC</a:t>
            </a:r>
            <a:pPr algn="l" indent="0" marL="0">
              <a:lnSpc>
                <a:spcPct val="160000"/>
              </a:lnSpc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  現事業 ｜ C向けEC</a:t>
            </a:r>
            <a:endParaRPr lang="en-US" altLang="ja-JP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123444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3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103120"/>
            <a:ext cx="1234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altLang="ja-JP" sz="1050" spc="50" kern="0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生産農家</a:t>
            </a:r>
            <a:endParaRPr lang="en-US" altLang="ja-JP" sz="1050" dirty="0"/>
          </a:p>
        </p:txBody>
      </p:sp>
      <p:sp>
        <p:nvSpPr>
          <p:cNvPr id="12" name="Shape 10"/>
          <p:cNvSpPr/>
          <p:nvPr/>
        </p:nvSpPr>
        <p:spPr>
          <a:xfrm>
            <a:off x="2048256" y="2331720"/>
            <a:ext cx="281178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366010" y="2103120"/>
            <a:ext cx="123444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3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66010" y="2103120"/>
            <a:ext cx="1234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altLang="ja-JP" sz="1050" spc="50" kern="0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卸（市場）</a:t>
            </a:r>
            <a:endParaRPr lang="en-US" altLang="ja-JP" sz="1050" dirty="0"/>
          </a:p>
        </p:txBody>
      </p:sp>
      <p:sp>
        <p:nvSpPr>
          <p:cNvPr id="15" name="Shape 13"/>
          <p:cNvSpPr/>
          <p:nvPr/>
        </p:nvSpPr>
        <p:spPr>
          <a:xfrm>
            <a:off x="3637026" y="2331720"/>
            <a:ext cx="281178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54780" y="2103120"/>
            <a:ext cx="123444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3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54780" y="2103120"/>
            <a:ext cx="1234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altLang="ja-JP" sz="1050" spc="50" kern="0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仲卸</a:t>
            </a:r>
            <a:endParaRPr lang="en-US" altLang="ja-JP" sz="1050" dirty="0"/>
          </a:p>
        </p:txBody>
      </p:sp>
      <p:sp>
        <p:nvSpPr>
          <p:cNvPr id="18" name="Shape 16"/>
          <p:cNvSpPr/>
          <p:nvPr/>
        </p:nvSpPr>
        <p:spPr>
          <a:xfrm>
            <a:off x="5225796" y="2331720"/>
            <a:ext cx="281178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43550" y="2103120"/>
            <a:ext cx="123444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164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43550" y="2103120"/>
            <a:ext cx="1234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altLang="ja-JP" sz="1050" b="1" spc="50" kern="0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小売</a:t>
            </a:r>
            <a:endParaRPr lang="en-US" altLang="ja-JP" sz="1050" dirty="0"/>
          </a:p>
        </p:txBody>
      </p:sp>
      <p:sp>
        <p:nvSpPr>
          <p:cNvPr id="21" name="Shape 19"/>
          <p:cNvSpPr/>
          <p:nvPr/>
        </p:nvSpPr>
        <p:spPr>
          <a:xfrm>
            <a:off x="6814566" y="2331720"/>
            <a:ext cx="281178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43550" y="2633472"/>
            <a:ext cx="1234440" cy="50292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6350">
            <a:solidFill>
              <a:srgbClr val="E16464"/>
            </a:solidFill>
            <a:prstDash val="solid"/>
          </a:ln>
        </p:spPr>
      </p:sp>
      <p:pic>
        <p:nvPicPr>
          <p:cNvPr id="23" name="Image 0" descr="andplan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2701744"/>
            <a:ext cx="640080" cy="366376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132320" y="2103120"/>
            <a:ext cx="123444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3E6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32320" y="2103120"/>
            <a:ext cx="1234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altLang="ja-JP" sz="1050" spc="50" kern="0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消費者</a:t>
            </a:r>
            <a:endParaRPr lang="en-US" altLang="ja-JP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318211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ja-JP" sz="900" b="1" spc="100" kern="0" dirty="0">
                <a:solidFill>
                  <a:srgbClr val="C94F4F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年商 1.1億 → 2.3億 → 5.2億円（2024年9月期）</a:t>
            </a:r>
            <a:endParaRPr lang="en-US" altLang="ja-JP" sz="900" dirty="0"/>
          </a:p>
        </p:txBody>
      </p:sp>
      <p:sp>
        <p:nvSpPr>
          <p:cNvPr id="27" name="Shape 24"/>
          <p:cNvSpPr/>
          <p:nvPr/>
        </p:nvSpPr>
        <p:spPr>
          <a:xfrm>
            <a:off x="777240" y="3383280"/>
            <a:ext cx="758952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502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altLang="ja-JP" sz="12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ハナイチ</a:t>
            </a:r>
            <a:pPr algn="l" indent="0" marL="0">
              <a:lnSpc>
                <a:spcPct val="160000"/>
              </a:lnSpc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  新事業 ｜ B向けEC（マーケットプレイス）</a:t>
            </a:r>
            <a:endParaRPr lang="en-US" altLang="ja-JP" sz="1100" dirty="0"/>
          </a:p>
        </p:txBody>
      </p:sp>
      <p:sp>
        <p:nvSpPr>
          <p:cNvPr id="29" name="Shape 26"/>
          <p:cNvSpPr/>
          <p:nvPr/>
        </p:nvSpPr>
        <p:spPr>
          <a:xfrm>
            <a:off x="777240" y="3886200"/>
            <a:ext cx="123444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3E6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3886200"/>
            <a:ext cx="1234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altLang="ja-JP" sz="1050" spc="50" kern="0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生産農家</a:t>
            </a:r>
            <a:endParaRPr lang="en-US" altLang="ja-JP" sz="1050" dirty="0"/>
          </a:p>
        </p:txBody>
      </p:sp>
      <p:sp>
        <p:nvSpPr>
          <p:cNvPr id="31" name="Shape 28"/>
          <p:cNvSpPr/>
          <p:nvPr/>
        </p:nvSpPr>
        <p:spPr>
          <a:xfrm>
            <a:off x="2048256" y="4114800"/>
            <a:ext cx="281178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2366010" y="3886200"/>
            <a:ext cx="123444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3E6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366010" y="3886200"/>
            <a:ext cx="1234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altLang="ja-JP" sz="1050" spc="50" kern="0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卸（市場）</a:t>
            </a:r>
            <a:endParaRPr lang="en-US" altLang="ja-JP" sz="1050" dirty="0"/>
          </a:p>
        </p:txBody>
      </p:sp>
      <p:sp>
        <p:nvSpPr>
          <p:cNvPr id="34" name="Shape 31"/>
          <p:cNvSpPr/>
          <p:nvPr/>
        </p:nvSpPr>
        <p:spPr>
          <a:xfrm>
            <a:off x="3637026" y="4114800"/>
            <a:ext cx="281178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3954780" y="3886200"/>
            <a:ext cx="123444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1646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954780" y="3886200"/>
            <a:ext cx="1234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altLang="ja-JP" sz="1050" b="1" spc="50" kern="0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仲卸</a:t>
            </a:r>
            <a:endParaRPr lang="en-US" altLang="ja-JP" sz="1050" dirty="0"/>
          </a:p>
        </p:txBody>
      </p:sp>
      <p:sp>
        <p:nvSpPr>
          <p:cNvPr id="37" name="Shape 34"/>
          <p:cNvSpPr/>
          <p:nvPr/>
        </p:nvSpPr>
        <p:spPr>
          <a:xfrm>
            <a:off x="5225796" y="4114800"/>
            <a:ext cx="281178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3954780" y="4416552"/>
            <a:ext cx="1234440" cy="50292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6350">
            <a:solidFill>
              <a:srgbClr val="E16464"/>
            </a:solidFill>
            <a:prstDash val="solid"/>
          </a:ln>
        </p:spPr>
      </p:sp>
      <p:pic>
        <p:nvPicPr>
          <p:cNvPr id="39" name="Image 1" descr="hanaichi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4527277"/>
            <a:ext cx="1005840" cy="28147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5543550" y="3886200"/>
            <a:ext cx="123444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3E6E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543550" y="3886200"/>
            <a:ext cx="1234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altLang="ja-JP" sz="1050" spc="50" kern="0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小売</a:t>
            </a:r>
            <a:endParaRPr lang="en-US" altLang="ja-JP" sz="1050" dirty="0"/>
          </a:p>
        </p:txBody>
      </p:sp>
      <p:sp>
        <p:nvSpPr>
          <p:cNvPr id="42" name="Shape 38"/>
          <p:cNvSpPr/>
          <p:nvPr/>
        </p:nvSpPr>
        <p:spPr>
          <a:xfrm>
            <a:off x="6814566" y="4114800"/>
            <a:ext cx="281178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7132320" y="3886200"/>
            <a:ext cx="123444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3E6E6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7132320" y="3886200"/>
            <a:ext cx="1234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altLang="ja-JP" sz="1050" spc="50" kern="0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消費者</a:t>
            </a:r>
            <a:endParaRPr lang="en-US" altLang="ja-JP" sz="1050" dirty="0"/>
          </a:p>
        </p:txBody>
      </p:sp>
      <p:sp>
        <p:nvSpPr>
          <p:cNvPr id="45" name="Text 41"/>
          <p:cNvSpPr txBox="1"/>
          <p:nvPr/>
        </p:nvSpPr>
        <p:spPr>
          <a:xfrm>
            <a:off x="6812280" y="1664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▶ 生花・植物の流れ</a:t>
            </a:r>
            <a:endParaRPr lang="en-US" altLang="ja-JP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502920" y="50017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2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B向け事業を持つことで</a:t>
            </a:r>
            <a:endParaRPr lang="en-US" altLang="ja-JP" sz="1200" dirty="0"/>
          </a:p>
        </p:txBody>
      </p:sp>
      <p:sp>
        <p:nvSpPr>
          <p:cNvPr id="47" name="Shape 43"/>
          <p:cNvSpPr/>
          <p:nvPr/>
        </p:nvSpPr>
        <p:spPr>
          <a:xfrm>
            <a:off x="502920" y="5367528"/>
            <a:ext cx="237744" cy="237744"/>
          </a:xfrm>
          <a:prstGeom prst="ellipse">
            <a:avLst/>
          </a:prstGeom>
          <a:solidFill>
            <a:srgbClr val="002B2F"/>
          </a:solidFill>
          <a:ln w="12700">
            <a:solidFill>
              <a:srgbClr val="002B2F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94360" y="5367528"/>
            <a:ext cx="54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altLang="ja-JP" sz="900" b="1" dirty="0">
                <a:solidFill>
                  <a:srgbClr val="FFFFFF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1</a:t>
            </a:r>
            <a:endParaRPr lang="en-US" altLang="ja-JP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850392" y="5367528"/>
            <a:ext cx="7790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100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仕入れ力・交渉力が向上し、多様な仕入れが可能に。</a:t>
            </a:r>
            <a:endParaRPr lang="en-US" altLang="ja-JP" sz="1000" dirty="0"/>
          </a:p>
        </p:txBody>
      </p:sp>
      <p:sp>
        <p:nvSpPr>
          <p:cNvPr id="50" name="Shape 46"/>
          <p:cNvSpPr/>
          <p:nvPr/>
        </p:nvSpPr>
        <p:spPr>
          <a:xfrm>
            <a:off x="502920" y="5696712"/>
            <a:ext cx="237744" cy="237744"/>
          </a:xfrm>
          <a:prstGeom prst="ellipse">
            <a:avLst/>
          </a:prstGeom>
          <a:solidFill>
            <a:srgbClr val="002B2F"/>
          </a:solidFill>
          <a:ln w="12700">
            <a:solidFill>
              <a:srgbClr val="002B2F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594360" y="5696712"/>
            <a:ext cx="54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altLang="ja-JP" sz="900" b="1" dirty="0">
                <a:solidFill>
                  <a:srgbClr val="FFFFFF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2</a:t>
            </a:r>
            <a:endParaRPr lang="en-US" altLang="ja-JP" sz="900" dirty="0"/>
          </a:p>
        </p:txBody>
      </p:sp>
      <p:sp>
        <p:nvSpPr>
          <p:cNvPr id="52" name="Text 48"/>
          <p:cNvSpPr txBox="1"/>
          <p:nvPr/>
        </p:nvSpPr>
        <p:spPr>
          <a:xfrm>
            <a:off x="850392" y="5696712"/>
            <a:ext cx="7790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100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ハナイチで余りそうな商品を小売でフラッシュセール（Instagram約16万フォロワー・100万UU/月を活用）し、ロス率を減少。</a:t>
            </a:r>
            <a:endParaRPr lang="en-US" altLang="ja-JP" sz="1000" dirty="0"/>
          </a:p>
        </p:txBody>
      </p:sp>
      <p:sp>
        <p:nvSpPr>
          <p:cNvPr id="53" name="Shape 49"/>
          <p:cNvSpPr/>
          <p:nvPr/>
        </p:nvSpPr>
        <p:spPr>
          <a:xfrm>
            <a:off x="502920" y="6025896"/>
            <a:ext cx="237744" cy="237744"/>
          </a:xfrm>
          <a:prstGeom prst="ellipse">
            <a:avLst/>
          </a:prstGeom>
          <a:solidFill>
            <a:srgbClr val="002B2F"/>
          </a:solidFill>
          <a:ln w="12700">
            <a:solidFill>
              <a:srgbClr val="002B2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594360" y="6025896"/>
            <a:ext cx="54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altLang="ja-JP" sz="900" b="1" dirty="0">
                <a:solidFill>
                  <a:srgbClr val="FFFFFF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3</a:t>
            </a:r>
            <a:endParaRPr lang="en-US" altLang="ja-JP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850392" y="6025896"/>
            <a:ext cx="7790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100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C向け・B向けの両方を持つことで、小売のみのときよりも多様な商品の販売が可能に。</a:t>
            </a:r>
            <a:endParaRPr lang="en-US" alt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6</a:t>
            </a:fld>
            <a:endParaRPr lang="en-US" altLang="ja-JP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Our Growth -</a:t>
            </a:r>
            <a:endParaRPr lang="en-US" alt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2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売上進捗</a:t>
            </a:r>
            <a:endParaRPr lang="en-US" altLang="ja-JP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44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Quarterly revenue (JPY million)</a:t>
            </a:r>
            <a:endParaRPr lang="en-US" altLang="ja-JP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</a:t>
            </a:r>
            <a:endParaRPr lang="en-US" altLang="ja-JP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Confidential</a:t>
            </a:r>
            <a:endParaRPr lang="en-US" altLang="ja-JP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508760"/>
          <a:ext cx="603504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766560" y="1600200"/>
            <a:ext cx="1874520" cy="1508760"/>
          </a:xfrm>
          <a:prstGeom prst="roundRect">
            <a:avLst>
              <a:gd name="adj" fmla="val 8418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17647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2025年 3Q 売上</a:t>
            </a:r>
            <a:endParaRPr lang="en-US" altLang="ja-JP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020824"/>
            <a:ext cx="150876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ja-JP" sz="3400" b="1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253</a:t>
            </a:r>
            <a:pPr algn="l" indent="0" marL="0">
              <a:buNone/>
            </a:pPr>
            <a:r>
              <a:rPr lang="en-US" altLang="ja-JP" sz="1100" spc="1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 百万円</a:t>
            </a:r>
            <a:endParaRPr lang="en-US" altLang="ja-JP" sz="3400" dirty="0"/>
          </a:p>
        </p:txBody>
      </p:sp>
      <p:sp>
        <p:nvSpPr>
          <p:cNvPr id="12" name="Shape 9"/>
          <p:cNvSpPr/>
          <p:nvPr/>
        </p:nvSpPr>
        <p:spPr>
          <a:xfrm>
            <a:off x="6766560" y="3291840"/>
            <a:ext cx="1874520" cy="1143000"/>
          </a:xfrm>
          <a:prstGeom prst="roundRect">
            <a:avLst>
              <a:gd name="adj" fmla="val 11111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0" y="3429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前年同期比</a:t>
            </a:r>
            <a:endParaRPr lang="en-US" altLang="ja-JP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3685032"/>
            <a:ext cx="150876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ja-JP" sz="2800" b="1" dirty="0">
                <a:solidFill>
                  <a:srgbClr val="E16464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+45</a:t>
            </a:r>
            <a:pPr algn="l" indent="0" marL="0">
              <a:buNone/>
            </a:pPr>
            <a:r>
              <a:rPr lang="en-US" altLang="ja-JP" sz="1100" spc="1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 %</a:t>
            </a:r>
            <a:endParaRPr lang="en-US" altLang="ja-JP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417525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100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175 → 253 百万円</a:t>
            </a:r>
            <a:endParaRPr lang="en-US" altLang="ja-JP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4709160"/>
            <a:ext cx="201168" cy="201168"/>
          </a:xfrm>
          <a:prstGeom prst="roundRect">
            <a:avLst>
              <a:gd name="adj" fmla="val 18939"/>
            </a:avLst>
          </a:prstGeom>
          <a:solidFill>
            <a:srgbClr val="004347"/>
          </a:solidFill>
          <a:ln w="12700">
            <a:solidFill>
              <a:srgbClr val="00434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59168" y="4709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AND PLANTS</a:t>
            </a:r>
            <a:endParaRPr lang="en-US" altLang="ja-JP" sz="900" dirty="0"/>
          </a:p>
        </p:txBody>
      </p:sp>
      <p:sp>
        <p:nvSpPr>
          <p:cNvPr id="18" name="Shape 15"/>
          <p:cNvSpPr/>
          <p:nvPr/>
        </p:nvSpPr>
        <p:spPr>
          <a:xfrm>
            <a:off x="6766560" y="5020056"/>
            <a:ext cx="201168" cy="201168"/>
          </a:xfrm>
          <a:prstGeom prst="roundRect">
            <a:avLst>
              <a:gd name="adj" fmla="val 18939"/>
            </a:avLst>
          </a:prstGeom>
          <a:solidFill>
            <a:srgbClr val="F8BA00"/>
          </a:solidFill>
          <a:ln w="12700">
            <a:solidFill>
              <a:srgbClr val="F8BA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59168" y="5020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ハナイチ</a:t>
            </a:r>
            <a:endParaRPr lang="en-US" altLang="ja-JP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5440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85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単位：百万円 ／ 2025年7月時点</a:t>
            </a:r>
            <a:endParaRPr lang="en-US" altLang="ja-JP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7</a:t>
            </a:fld>
            <a:endParaRPr lang="en-US" altLang="ja-JP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8346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4000" b="1" spc="1000" kern="0" dirty="0">
                <a:solidFill>
                  <a:srgbClr val="FFFFFF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OUR ASSETS</a:t>
            </a:r>
            <a:endParaRPr lang="en-US" altLang="ja-JP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703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spc="300" kern="0" dirty="0">
                <a:solidFill>
                  <a:srgbClr val="A5BCBE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自社ロジスティクス・発送拠点</a:t>
            </a:r>
            <a:endParaRPr lang="en-US" altLang="ja-JP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Land / House -</a:t>
            </a:r>
            <a:endParaRPr lang="en-US" alt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2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観葉植物発送拠点</a:t>
            </a:r>
            <a:endParaRPr lang="en-US" altLang="ja-JP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44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Plant fulfillment center — Yokohama</a:t>
            </a:r>
            <a:endParaRPr lang="en-US" altLang="ja-JP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</a:t>
            </a:r>
            <a:endParaRPr lang="en-US" altLang="ja-JP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Confidential</a:t>
            </a:r>
            <a:endParaRPr lang="en-US" altLang="ja-JP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pic>
        <p:nvPicPr>
          <p:cNvPr id="8" name="Image 0" descr="greenhouse-site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4023360" cy="2514600"/>
          </a:xfrm>
          <a:prstGeom prst="rect">
            <a:avLst/>
          </a:prstGeom>
        </p:spPr>
      </p:pic>
      <p:pic>
        <p:nvPicPr>
          <p:cNvPr id="9" name="Image 1" descr="greenhouse-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554480"/>
            <a:ext cx="1897380" cy="1188720"/>
          </a:xfrm>
          <a:prstGeom prst="rect">
            <a:avLst/>
          </a:prstGeom>
        </p:spPr>
      </p:pic>
      <p:pic>
        <p:nvPicPr>
          <p:cNvPr id="10" name="Image 2" descr="greenhouse-0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1554480"/>
            <a:ext cx="1897380" cy="1188720"/>
          </a:xfrm>
          <a:prstGeom prst="rect">
            <a:avLst/>
          </a:prstGeom>
        </p:spPr>
      </p:pic>
      <p:pic>
        <p:nvPicPr>
          <p:cNvPr id="11" name="Image 3" descr="greenhouse-0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880360"/>
            <a:ext cx="1897380" cy="1188720"/>
          </a:xfrm>
          <a:prstGeom prst="rect">
            <a:avLst/>
          </a:prstGeom>
        </p:spPr>
      </p:pic>
      <p:pic>
        <p:nvPicPr>
          <p:cNvPr id="12" name="Image 4" descr="greenhouse-0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2880360"/>
            <a:ext cx="1897380" cy="118872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502920" y="4297680"/>
            <a:ext cx="8138160" cy="1965960"/>
          </a:xfrm>
          <a:prstGeom prst="roundRect">
            <a:avLst>
              <a:gd name="adj" fmla="val 646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7772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altLang="ja-JP" sz="11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[面積]  </a:t>
            </a:r>
            <a:pPr algn="l" indent="0" marL="0">
              <a:lnSpc>
                <a:spcPct val="160000"/>
              </a:lnSpc>
              <a:buNone/>
            </a:pPr>
            <a:r>
              <a:rPr lang="en-US" altLang="ja-JP" sz="110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約2,850㎡（ビニールハウス4棟）</a:t>
            </a:r>
            <a:endParaRPr lang="en-US" altLang="ja-JP" sz="1100" dirty="0"/>
          </a:p>
        </p:txBody>
      </p:sp>
      <p:sp>
        <p:nvSpPr>
          <p:cNvPr id="15" name="Text 8"/>
          <p:cNvSpPr txBox="1"/>
          <p:nvPr/>
        </p:nvSpPr>
        <p:spPr>
          <a:xfrm>
            <a:off x="7772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altLang="ja-JP" sz="11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[場所]  </a:t>
            </a:r>
            <a:pPr algn="l" indent="0" marL="0">
              <a:lnSpc>
                <a:spcPct val="160000"/>
              </a:lnSpc>
              <a:buNone/>
            </a:pPr>
            <a:r>
              <a:rPr lang="en-US" altLang="ja-JP" sz="110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神奈川県横浜市都筑区（渋谷駅まで約20km）</a:t>
            </a:r>
            <a:endParaRPr lang="en-US" altLang="ja-JP" sz="1100" dirty="0"/>
          </a:p>
        </p:txBody>
      </p:sp>
      <p:sp>
        <p:nvSpPr>
          <p:cNvPr id="16" name="Text 9"/>
          <p:cNvSpPr txBox="1"/>
          <p:nvPr/>
        </p:nvSpPr>
        <p:spPr>
          <a:xfrm>
            <a:off x="4709160" y="452628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9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観葉植物の発送拠点。2023年3月から運用開始。</a:t>
            </a:r>
            <a:endParaRPr lang="en-US" altLang="ja-JP" sz="9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altLang="ja-JP" sz="9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花卉生産農家の生産拠点（ビニールハウス）をそのまま居抜きで賃借中。観葉植物の管理に必要な基本的な設備が備わっています。全国の観葉植物農家さんから仕入れた植物をここで管理、植替、発送しています。</a:t>
            </a:r>
            <a:endParaRPr lang="en-US" altLang="ja-JP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9</a:t>
            </a:fld>
            <a:endParaRPr lang="en-US" altLang="ja-JP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Land / House -</a:t>
            </a:r>
            <a:endParaRPr lang="en-US" alt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2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生花発送拠点</a:t>
            </a:r>
            <a:endParaRPr lang="en-US" altLang="ja-JP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44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Flower fulfillment centers — Kawasaki</a:t>
            </a:r>
            <a:endParaRPr lang="en-US" altLang="ja-JP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</a:t>
            </a:r>
            <a:endParaRPr lang="en-US" altLang="ja-JP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Confidential</a:t>
            </a:r>
            <a:endParaRPr lang="en-US" altLang="ja-JP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pic>
        <p:nvPicPr>
          <p:cNvPr id="8" name="Image 0" descr="flower-hub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3977640" cy="2514600"/>
          </a:xfrm>
          <a:prstGeom prst="rect">
            <a:avLst/>
          </a:prstGeom>
        </p:spPr>
      </p:pic>
      <p:pic>
        <p:nvPicPr>
          <p:cNvPr id="9" name="Image 1" descr="flower-hub-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54480"/>
            <a:ext cx="3977640" cy="2514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4297680"/>
            <a:ext cx="8138160" cy="1965960"/>
          </a:xfrm>
          <a:prstGeom prst="roundRect">
            <a:avLst>
              <a:gd name="adj" fmla="val 646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altLang="ja-JP" sz="11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[面積]  </a:t>
            </a:r>
            <a:pPr algn="l" indent="0" marL="0">
              <a:lnSpc>
                <a:spcPct val="160000"/>
              </a:lnSpc>
              <a:buNone/>
            </a:pPr>
            <a:r>
              <a:rPr lang="en-US" altLang="ja-JP" sz="110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約560㎡（2拠点）</a:t>
            </a:r>
            <a:endParaRPr lang="en-US" altLang="ja-JP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altLang="ja-JP" sz="11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[場所]  </a:t>
            </a:r>
            <a:pPr algn="l" indent="0" marL="0">
              <a:lnSpc>
                <a:spcPct val="160000"/>
              </a:lnSpc>
              <a:buNone/>
            </a:pPr>
            <a:r>
              <a:rPr lang="en-US" altLang="ja-JP" sz="110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溝の口駅、川崎駅</a:t>
            </a:r>
            <a:endParaRPr lang="en-US" altLang="ja-JP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452628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9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生花発送のための拠点を2拠点運用しています。</a:t>
            </a:r>
            <a:endParaRPr lang="en-US" altLang="ja-JP" sz="9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altLang="ja-JP" sz="9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大きな冷蔵庫を完備しており、質の高いブーケやアレンジメントの製作・発送を可能にしています。法人様向けの大量発注にも対応可能です。</a:t>
            </a:r>
            <a:endParaRPr lang="en-US" altLang="ja-JP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10</a:t>
            </a:fld>
            <a:endParaRPr lang="en-US" altLang="ja-JP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8346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4000" b="1" spc="1000" kern="0" dirty="0">
                <a:solidFill>
                  <a:srgbClr val="FFFFFF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PLATFORM VISION</a:t>
            </a:r>
            <a:endParaRPr lang="en-US" altLang="ja-JP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703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spc="300" kern="0" dirty="0">
                <a:solidFill>
                  <a:srgbClr val="A5BCBE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DX／プラットフォーム構想</a:t>
            </a:r>
            <a:endParaRPr lang="en-US" altLang="ja-JP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Platform Vision -</a:t>
            </a:r>
            <a:endParaRPr lang="en-US" alt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2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花卉産業DXを軸としたプラットフォーム</a:t>
            </a:r>
            <a:endParaRPr lang="en-US" altLang="ja-JP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44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From two marketplaces to an industry platform</a:t>
            </a:r>
            <a:endParaRPr lang="en-US" altLang="ja-JP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</a:t>
            </a:r>
            <a:endParaRPr lang="en-US" altLang="ja-JP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Confidential</a:t>
            </a:r>
            <a:endParaRPr lang="en-US" altLang="ja-JP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8138160" cy="4663440"/>
          </a:xfrm>
          <a:prstGeom prst="roundRect">
            <a:avLst>
              <a:gd name="adj" fmla="val 2723"/>
            </a:avLst>
          </a:prstGeom>
          <a:solidFill>
            <a:srgbClr val="F9F6EF"/>
          </a:solidFill>
          <a:ln w="12700">
            <a:solidFill>
              <a:srgbClr val="F9F6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965960"/>
            <a:ext cx="2103120" cy="1417320"/>
          </a:xfrm>
          <a:prstGeom prst="roundRect">
            <a:avLst>
              <a:gd name="adj" fmla="val 7168"/>
            </a:avLst>
          </a:prstGeom>
          <a:solidFill>
            <a:srgbClr val="FFFFFF"/>
          </a:solidFill>
          <a:ln w="6350">
            <a:solidFill>
              <a:srgbClr val="0043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103120"/>
            <a:ext cx="777240" cy="256032"/>
          </a:xfrm>
          <a:prstGeom prst="roundRect">
            <a:avLst>
              <a:gd name="adj" fmla="val 19841"/>
            </a:avLst>
          </a:prstGeom>
          <a:solidFill>
            <a:srgbClr val="004347"/>
          </a:solidFill>
          <a:ln w="12700">
            <a:solidFill>
              <a:srgbClr val="0043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1031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900" b="1" spc="100" kern="0" dirty="0">
                <a:solidFill>
                  <a:srgbClr val="FFFFFF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C向けEC</a:t>
            </a:r>
            <a:endParaRPr lang="en-US" altLang="ja-JP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1031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900" spc="10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現事業</a:t>
            </a:r>
            <a:endParaRPr lang="en-US" altLang="ja-JP" sz="900" dirty="0"/>
          </a:p>
        </p:txBody>
      </p:sp>
      <p:pic>
        <p:nvPicPr>
          <p:cNvPr id="13" name="Image 0" descr="andplan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2450915"/>
            <a:ext cx="685800" cy="39254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35204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11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AND PLANTS</a:t>
            </a:r>
            <a:endParaRPr lang="en-US" altLang="ja-JP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30998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花・植物領域特化EC</a:t>
            </a:r>
            <a:endParaRPr lang="en-US" altLang="ja-JP" sz="900" dirty="0"/>
          </a:p>
        </p:txBody>
      </p:sp>
      <p:sp>
        <p:nvSpPr>
          <p:cNvPr id="16" name="Shape 13"/>
          <p:cNvSpPr/>
          <p:nvPr/>
        </p:nvSpPr>
        <p:spPr>
          <a:xfrm>
            <a:off x="3520440" y="4389120"/>
            <a:ext cx="2103120" cy="1417320"/>
          </a:xfrm>
          <a:prstGeom prst="roundRect">
            <a:avLst>
              <a:gd name="adj" fmla="val 7168"/>
            </a:avLst>
          </a:prstGeom>
          <a:solidFill>
            <a:srgbClr val="FFFFFF"/>
          </a:solidFill>
          <a:ln w="6350">
            <a:solidFill>
              <a:srgbClr val="004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0" y="4526280"/>
            <a:ext cx="777240" cy="256032"/>
          </a:xfrm>
          <a:prstGeom prst="roundRect">
            <a:avLst>
              <a:gd name="adj" fmla="val 19841"/>
            </a:avLst>
          </a:prstGeom>
          <a:solidFill>
            <a:srgbClr val="004347"/>
          </a:solidFill>
          <a:ln w="12700">
            <a:solidFill>
              <a:srgbClr val="00434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57600" y="4526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900" b="1" spc="100" kern="0" dirty="0">
                <a:solidFill>
                  <a:srgbClr val="FFFFFF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B向けEC</a:t>
            </a:r>
            <a:endParaRPr lang="en-US" altLang="ja-JP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4526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900" spc="10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現事業</a:t>
            </a:r>
            <a:endParaRPr lang="en-US" altLang="ja-JP" sz="900" dirty="0"/>
          </a:p>
        </p:txBody>
      </p:sp>
      <p:pic>
        <p:nvPicPr>
          <p:cNvPr id="20" name="Image 1" descr="hanaichi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916819"/>
            <a:ext cx="1097280" cy="30705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520440" y="5303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11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ハナイチ</a:t>
            </a:r>
            <a:endParaRPr lang="en-US" altLang="ja-JP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3520440" y="55229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花屋／植物屋向け 仕入れEC</a:t>
            </a:r>
            <a:endParaRPr lang="en-US" altLang="ja-JP" sz="900" dirty="0"/>
          </a:p>
        </p:txBody>
      </p:sp>
      <p:sp>
        <p:nvSpPr>
          <p:cNvPr id="23" name="Shape 19"/>
          <p:cNvSpPr/>
          <p:nvPr/>
        </p:nvSpPr>
        <p:spPr>
          <a:xfrm flipV="1">
            <a:off x="4023360" y="3456432"/>
            <a:ext cx="0" cy="85953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4251960" y="3456432"/>
            <a:ext cx="0" cy="85953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Text 21"/>
          <p:cNvSpPr txBox="1"/>
          <p:nvPr/>
        </p:nvSpPr>
        <p:spPr>
          <a:xfrm>
            <a:off x="4434840" y="3547872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altLang="ja-JP" sz="850" dirty="0">
                <a:solidFill>
                  <a:srgbClr val="6B5E5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余り商品の販売</a:t>
            </a:r>
            <a:endParaRPr lang="en-US" altLang="ja-JP" sz="8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altLang="ja-JP" sz="850" dirty="0">
                <a:solidFill>
                  <a:srgbClr val="6B5E5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仕入れ力向上</a:t>
            </a:r>
            <a:endParaRPr lang="en-US" altLang="ja-JP" sz="8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altLang="ja-JP" sz="850" dirty="0">
                <a:solidFill>
                  <a:srgbClr val="6B5E5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アセット共有</a:t>
            </a:r>
            <a:endParaRPr lang="en-US" altLang="ja-JP" sz="850" dirty="0"/>
          </a:p>
        </p:txBody>
      </p:sp>
      <p:sp>
        <p:nvSpPr>
          <p:cNvPr id="26" name="Shape 22"/>
          <p:cNvSpPr/>
          <p:nvPr/>
        </p:nvSpPr>
        <p:spPr>
          <a:xfrm>
            <a:off x="777240" y="1874520"/>
            <a:ext cx="2011680" cy="1280160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41832" y="200253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7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RETAIL</a:t>
            </a:r>
            <a:endParaRPr lang="en-US" altLang="ja-JP" sz="750" dirty="0"/>
          </a:p>
        </p:txBody>
      </p:sp>
      <p:sp>
        <p:nvSpPr>
          <p:cNvPr id="28" name="Text 24"/>
          <p:cNvSpPr txBox="1"/>
          <p:nvPr/>
        </p:nvSpPr>
        <p:spPr>
          <a:xfrm>
            <a:off x="941832" y="22037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15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リアル店舗</a:t>
            </a:r>
            <a:endParaRPr lang="en-US" altLang="ja-JP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941832" y="249631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観葉植物・花の専門店。OMO施策・送客</a:t>
            </a:r>
            <a:endParaRPr lang="en-US" altLang="ja-JP" sz="850" dirty="0"/>
          </a:p>
        </p:txBody>
      </p:sp>
      <p:sp>
        <p:nvSpPr>
          <p:cNvPr id="30" name="Shape 26"/>
          <p:cNvSpPr/>
          <p:nvPr/>
        </p:nvSpPr>
        <p:spPr>
          <a:xfrm>
            <a:off x="2825496" y="2514600"/>
            <a:ext cx="640080" cy="160020"/>
          </a:xfrm>
          <a:prstGeom prst="line">
            <a:avLst/>
          </a:prstGeom>
          <a:noFill/>
          <a:ln w="12700">
            <a:solidFill>
              <a:srgbClr val="598487"/>
            </a:solidFill>
            <a:prstDash val="solid"/>
            <a:headEnd type="triangle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777240" y="3429000"/>
            <a:ext cx="2011680" cy="1280160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41832" y="355701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7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GREEN RENTAL</a:t>
            </a:r>
            <a:endParaRPr lang="en-US" altLang="ja-JP" sz="750" dirty="0"/>
          </a:p>
        </p:txBody>
      </p:sp>
      <p:sp>
        <p:nvSpPr>
          <p:cNvPr id="33" name="Text 29"/>
          <p:cNvSpPr txBox="1"/>
          <p:nvPr/>
        </p:nvSpPr>
        <p:spPr>
          <a:xfrm>
            <a:off x="941832" y="375818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15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グリーンレンタル</a:t>
            </a:r>
            <a:endParaRPr lang="en-US" altLang="ja-JP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941832" y="405079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法人向けに社内緑化およびメンテナンス</a:t>
            </a:r>
            <a:endParaRPr lang="en-US" altLang="ja-JP" sz="850" dirty="0"/>
          </a:p>
        </p:txBody>
      </p:sp>
      <p:sp>
        <p:nvSpPr>
          <p:cNvPr id="35" name="Shape 31"/>
          <p:cNvSpPr/>
          <p:nvPr/>
        </p:nvSpPr>
        <p:spPr>
          <a:xfrm>
            <a:off x="2825496" y="4069080"/>
            <a:ext cx="640080" cy="1028700"/>
          </a:xfrm>
          <a:prstGeom prst="line">
            <a:avLst/>
          </a:prstGeom>
          <a:noFill/>
          <a:ln w="12700">
            <a:solidFill>
              <a:srgbClr val="598487"/>
            </a:solidFill>
            <a:prstDash val="solid"/>
            <a:headEnd type="triangle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777240" y="4983480"/>
            <a:ext cx="2011680" cy="1280160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41832" y="511149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7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GROWER ROLL-UP</a:t>
            </a:r>
            <a:endParaRPr lang="en-US" altLang="ja-JP" sz="750" dirty="0"/>
          </a:p>
        </p:txBody>
      </p:sp>
      <p:sp>
        <p:nvSpPr>
          <p:cNvPr id="38" name="Text 34"/>
          <p:cNvSpPr txBox="1"/>
          <p:nvPr/>
        </p:nvSpPr>
        <p:spPr>
          <a:xfrm>
            <a:off x="941832" y="53126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15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生産者ロールアップ</a:t>
            </a:r>
            <a:endParaRPr lang="en-US" altLang="ja-JP" sz="1150" dirty="0"/>
          </a:p>
        </p:txBody>
      </p:sp>
      <p:sp>
        <p:nvSpPr>
          <p:cNvPr id="39" name="Text 35"/>
          <p:cNvSpPr txBox="1"/>
          <p:nvPr/>
        </p:nvSpPr>
        <p:spPr>
          <a:xfrm>
            <a:off x="941832" y="560527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小売・卸の情報を元に売れる商品を生産。M&amp;A→DX</a:t>
            </a:r>
            <a:endParaRPr lang="en-US" altLang="ja-JP" sz="850" dirty="0"/>
          </a:p>
        </p:txBody>
      </p:sp>
      <p:sp>
        <p:nvSpPr>
          <p:cNvPr id="40" name="Shape 36"/>
          <p:cNvSpPr/>
          <p:nvPr/>
        </p:nvSpPr>
        <p:spPr>
          <a:xfrm flipV="1">
            <a:off x="2825496" y="5097780"/>
            <a:ext cx="640080" cy="525780"/>
          </a:xfrm>
          <a:prstGeom prst="line">
            <a:avLst/>
          </a:prstGeom>
          <a:noFill/>
          <a:ln w="12700">
            <a:solidFill>
              <a:srgbClr val="598487"/>
            </a:solidFill>
            <a:prstDash val="solid"/>
            <a:headEnd type="triangle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6355080" y="1874520"/>
            <a:ext cx="2011680" cy="1280160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519672" y="200253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7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3PL</a:t>
            </a:r>
            <a:endParaRPr lang="en-US" altLang="ja-JP" sz="750" dirty="0"/>
          </a:p>
        </p:txBody>
      </p:sp>
      <p:sp>
        <p:nvSpPr>
          <p:cNvPr id="43" name="Text 39"/>
          <p:cNvSpPr txBox="1"/>
          <p:nvPr/>
        </p:nvSpPr>
        <p:spPr>
          <a:xfrm>
            <a:off x="6519672" y="22037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15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高付加価値3PL</a:t>
            </a:r>
            <a:endParaRPr lang="en-US" altLang="ja-JP" sz="1150" dirty="0"/>
          </a:p>
        </p:txBody>
      </p:sp>
      <p:sp>
        <p:nvSpPr>
          <p:cNvPr id="44" name="Text 40"/>
          <p:cNvSpPr txBox="1"/>
          <p:nvPr/>
        </p:nvSpPr>
        <p:spPr>
          <a:xfrm>
            <a:off x="6519672" y="249631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他ジャンルの商材を保管し、高付加価値の梱包発送</a:t>
            </a:r>
            <a:endParaRPr lang="en-US" altLang="ja-JP" sz="850" dirty="0"/>
          </a:p>
        </p:txBody>
      </p:sp>
      <p:sp>
        <p:nvSpPr>
          <p:cNvPr id="45" name="Shape 41"/>
          <p:cNvSpPr/>
          <p:nvPr/>
        </p:nvSpPr>
        <p:spPr>
          <a:xfrm flipH="1">
            <a:off x="5678424" y="2514600"/>
            <a:ext cx="640080" cy="160020"/>
          </a:xfrm>
          <a:prstGeom prst="line">
            <a:avLst/>
          </a:prstGeom>
          <a:noFill/>
          <a:ln w="12700">
            <a:solidFill>
              <a:srgbClr val="598487"/>
            </a:solidFill>
            <a:prstDash val="solid"/>
            <a:headEnd type="triangle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6355080" y="3429000"/>
            <a:ext cx="2011680" cy="1280160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519672" y="355701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7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ENABLER</a:t>
            </a:r>
            <a:endParaRPr lang="en-US" altLang="ja-JP" sz="750" dirty="0"/>
          </a:p>
        </p:txBody>
      </p:sp>
      <p:sp>
        <p:nvSpPr>
          <p:cNvPr id="48" name="Text 44"/>
          <p:cNvSpPr txBox="1"/>
          <p:nvPr/>
        </p:nvSpPr>
        <p:spPr>
          <a:xfrm>
            <a:off x="6519672" y="375818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15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生花イネイブラー</a:t>
            </a:r>
            <a:endParaRPr lang="en-US" altLang="ja-JP" sz="1150" dirty="0"/>
          </a:p>
        </p:txBody>
      </p:sp>
      <p:sp>
        <p:nvSpPr>
          <p:cNvPr id="49" name="Text 45"/>
          <p:cNvSpPr txBox="1"/>
          <p:nvPr/>
        </p:nvSpPr>
        <p:spPr>
          <a:xfrm>
            <a:off x="6519672" y="405079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異業種に花の販売機能を提供 → AND FLOWER ギフトオプションとして提供中</a:t>
            </a:r>
            <a:endParaRPr lang="en-US" altLang="ja-JP" sz="850" dirty="0"/>
          </a:p>
        </p:txBody>
      </p:sp>
      <p:sp>
        <p:nvSpPr>
          <p:cNvPr id="50" name="Shape 46"/>
          <p:cNvSpPr/>
          <p:nvPr/>
        </p:nvSpPr>
        <p:spPr>
          <a:xfrm>
            <a:off x="7498080" y="3538728"/>
            <a:ext cx="731520" cy="256032"/>
          </a:xfrm>
          <a:prstGeom prst="roundRect">
            <a:avLst>
              <a:gd name="adj" fmla="val 19841"/>
            </a:avLst>
          </a:prstGeom>
          <a:solidFill>
            <a:srgbClr val="DFE7E7"/>
          </a:solidFill>
          <a:ln w="12700">
            <a:solidFill>
              <a:srgbClr val="DFE7E7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498080" y="3538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9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一部実現</a:t>
            </a:r>
            <a:endParaRPr lang="en-US" altLang="ja-JP" sz="900" dirty="0"/>
          </a:p>
        </p:txBody>
      </p:sp>
      <p:sp>
        <p:nvSpPr>
          <p:cNvPr id="52" name="Shape 48"/>
          <p:cNvSpPr/>
          <p:nvPr/>
        </p:nvSpPr>
        <p:spPr>
          <a:xfrm flipH="1">
            <a:off x="5678424" y="4069080"/>
            <a:ext cx="640080" cy="1028700"/>
          </a:xfrm>
          <a:prstGeom prst="line">
            <a:avLst/>
          </a:prstGeom>
          <a:noFill/>
          <a:ln w="12700">
            <a:solidFill>
              <a:srgbClr val="598487"/>
            </a:solidFill>
            <a:prstDash val="solid"/>
            <a:headEnd type="triangle"/>
            <a:tailEnd type="triangle"/>
          </a:ln>
        </p:spPr>
      </p:sp>
      <p:sp>
        <p:nvSpPr>
          <p:cNvPr id="53" name="Shape 49"/>
          <p:cNvSpPr/>
          <p:nvPr/>
        </p:nvSpPr>
        <p:spPr>
          <a:xfrm>
            <a:off x="6355080" y="4983480"/>
            <a:ext cx="2011680" cy="1280160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6519672" y="511149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7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EXPORT</a:t>
            </a:r>
            <a:endParaRPr lang="en-US" altLang="ja-JP" sz="750" dirty="0"/>
          </a:p>
        </p:txBody>
      </p:sp>
      <p:sp>
        <p:nvSpPr>
          <p:cNvPr id="55" name="Text 51"/>
          <p:cNvSpPr txBox="1"/>
          <p:nvPr/>
        </p:nvSpPr>
        <p:spPr>
          <a:xfrm>
            <a:off x="6519672" y="53126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15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輸出プラットフォーム</a:t>
            </a:r>
            <a:endParaRPr lang="en-US" altLang="ja-JP" sz="1150" dirty="0"/>
          </a:p>
        </p:txBody>
      </p:sp>
      <p:sp>
        <p:nvSpPr>
          <p:cNvPr id="56" name="Text 52"/>
          <p:cNvSpPr txBox="1"/>
          <p:nvPr/>
        </p:nvSpPr>
        <p:spPr>
          <a:xfrm>
            <a:off x="6519672" y="560527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国内生産者・加工品メーカーと海外サプライヤーを繋ぐ</a:t>
            </a:r>
            <a:endParaRPr lang="en-US" altLang="ja-JP" sz="850" dirty="0"/>
          </a:p>
        </p:txBody>
      </p:sp>
      <p:sp>
        <p:nvSpPr>
          <p:cNvPr id="57" name="Shape 53"/>
          <p:cNvSpPr/>
          <p:nvPr/>
        </p:nvSpPr>
        <p:spPr>
          <a:xfrm flipH="1" flipV="1">
            <a:off x="5678424" y="5097780"/>
            <a:ext cx="640080" cy="525780"/>
          </a:xfrm>
          <a:prstGeom prst="line">
            <a:avLst/>
          </a:prstGeom>
          <a:noFill/>
          <a:ln w="12700">
            <a:solidFill>
              <a:srgbClr val="598487"/>
            </a:solidFill>
            <a:prstDash val="solid"/>
            <a:headEnd type="triangl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12</a:t>
            </a:fld>
            <a:endParaRPr lang="en-US" altLang="ja-JP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8346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4000" b="1" spc="1000" kern="0" dirty="0">
                <a:solidFill>
                  <a:srgbClr val="FFFFFF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TEAM</a:t>
            </a:r>
            <a:endParaRPr lang="en-US" altLang="ja-JP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703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spc="300" kern="0" dirty="0">
                <a:solidFill>
                  <a:srgbClr val="A5BCBE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チーム</a:t>
            </a:r>
            <a:endParaRPr lang="en-US" altLang="ja-JP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Member Profile -</a:t>
            </a:r>
            <a:endParaRPr lang="en-US" alt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2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代表取締役　髙木 弘貴</a:t>
            </a:r>
            <a:endParaRPr lang="en-US" altLang="ja-JP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44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Hiroki Takagi — Founder &amp; CEO</a:t>
            </a:r>
            <a:endParaRPr lang="en-US" altLang="ja-JP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</a:t>
            </a:r>
            <a:endParaRPr lang="en-US" altLang="ja-JP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Confidential</a:t>
            </a:r>
            <a:endParaRPr lang="en-US" altLang="ja-JP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pic>
        <p:nvPicPr>
          <p:cNvPr id="8" name="Image 0" descr="member-takag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2651760" cy="2651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429000" y="150876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altLang="ja-JP" sz="100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早稲田大学政治経済学部卒業後、タイのバンコクにて旅行系情報／予約サイトで起業。その後、東証プライム上場企業エス・エム・エス創業者の諸藤周平氏が創業したREAPRAグループのベトナム現地法人代表に就任し、ベトナム人向け人材サービス、ベトナム女性向けWEBメディアの立ち上げ、日系大手企業向けの受託開発オフショア拠点開発を行う。</a:t>
            </a:r>
            <a:endParaRPr lang="en-US" altLang="ja-JP" sz="1000" dirty="0"/>
          </a:p>
          <a:p>
            <a:pPr algn="l" indent="0" marL="0">
              <a:lnSpc>
                <a:spcPct val="155000"/>
              </a:lnSpc>
              <a:buNone/>
            </a:pPr>
            <a:endParaRPr lang="en-US" altLang="ja-JP" sz="10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altLang="ja-JP" sz="100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2018年に帰国し、株式会社Domuzを創業。システム開発やマーケティング支援を行いながら、1つ目の自社事業としてプログラミングスクールの口コミサイトを立ち上げ、東証グロース上場のGMOメディア社に売却。</a:t>
            </a:r>
            <a:endParaRPr lang="en-US" altLang="ja-JP" sz="1000" dirty="0"/>
          </a:p>
          <a:p>
            <a:pPr algn="l" indent="0" marL="0">
              <a:lnSpc>
                <a:spcPct val="155000"/>
              </a:lnSpc>
              <a:buNone/>
            </a:pPr>
            <a:endParaRPr lang="en-US" altLang="ja-JP" sz="10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altLang="ja-JP" sz="100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2つ目の事業として、花卉産業DX／プラットフォーム事業に挑戦中。</a:t>
            </a:r>
            <a:endParaRPr lang="en-US" altLang="ja-JP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4617720"/>
            <a:ext cx="1325880" cy="1325880"/>
          </a:xfrm>
          <a:prstGeom prst="ellipse">
            <a:avLst/>
          </a:prstGeom>
          <a:solidFill>
            <a:srgbClr val="F9F6EF"/>
          </a:solidFill>
          <a:ln w="12700">
            <a:solidFill>
              <a:srgbClr val="F9F6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4617720"/>
            <a:ext cx="1143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altLang="ja-JP" sz="950" b="1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旅行系</a:t>
            </a:r>
            <a:endParaRPr lang="en-US" altLang="ja-JP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altLang="ja-JP" sz="950" b="1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スタートアップ創業</a:t>
            </a:r>
            <a:endParaRPr lang="en-US" altLang="ja-JP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altLang="ja-JP" sz="950" b="1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@タイ</a:t>
            </a:r>
            <a:endParaRPr lang="en-US" altLang="ja-JP" sz="950" dirty="0"/>
          </a:p>
        </p:txBody>
      </p:sp>
      <p:sp>
        <p:nvSpPr>
          <p:cNvPr id="12" name="Shape 9"/>
          <p:cNvSpPr/>
          <p:nvPr/>
        </p:nvSpPr>
        <p:spPr>
          <a:xfrm>
            <a:off x="1901952" y="5280660"/>
            <a:ext cx="798576" cy="0"/>
          </a:xfrm>
          <a:prstGeom prst="line">
            <a:avLst/>
          </a:prstGeom>
          <a:noFill/>
          <a:ln w="25400">
            <a:solidFill>
              <a:srgbClr val="F8BA0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773680" y="4617720"/>
            <a:ext cx="1325880" cy="1325880"/>
          </a:xfrm>
          <a:prstGeom prst="ellipse">
            <a:avLst/>
          </a:prstGeom>
          <a:solidFill>
            <a:srgbClr val="F9F6EF"/>
          </a:solidFill>
          <a:ln w="12700">
            <a:solidFill>
              <a:srgbClr val="F9F6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65120" y="4617720"/>
            <a:ext cx="1143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altLang="ja-JP" sz="950" b="1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オフショア開発</a:t>
            </a:r>
            <a:endParaRPr lang="en-US" altLang="ja-JP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altLang="ja-JP" sz="950" b="1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会社現地代表</a:t>
            </a:r>
            <a:endParaRPr lang="en-US" altLang="ja-JP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altLang="ja-JP" sz="950" b="1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@ベトナム</a:t>
            </a:r>
            <a:endParaRPr lang="en-US" altLang="ja-JP" sz="950" dirty="0"/>
          </a:p>
        </p:txBody>
      </p:sp>
      <p:sp>
        <p:nvSpPr>
          <p:cNvPr id="15" name="Shape 12"/>
          <p:cNvSpPr/>
          <p:nvPr/>
        </p:nvSpPr>
        <p:spPr>
          <a:xfrm>
            <a:off x="4172712" y="5280660"/>
            <a:ext cx="798576" cy="0"/>
          </a:xfrm>
          <a:prstGeom prst="line">
            <a:avLst/>
          </a:prstGeom>
          <a:noFill/>
          <a:ln w="25400">
            <a:solidFill>
              <a:srgbClr val="F8BA0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044440" y="4617720"/>
            <a:ext cx="1325880" cy="1325880"/>
          </a:xfrm>
          <a:prstGeom prst="ellipse">
            <a:avLst/>
          </a:prstGeom>
          <a:solidFill>
            <a:srgbClr val="F9F6EF"/>
          </a:solidFill>
          <a:ln w="12700">
            <a:solidFill>
              <a:srgbClr val="F9F6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35880" y="4617720"/>
            <a:ext cx="1143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altLang="ja-JP" sz="950" b="1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エンジニア向け</a:t>
            </a:r>
            <a:endParaRPr lang="en-US" altLang="ja-JP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altLang="ja-JP" sz="950" b="1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メディア</a:t>
            </a:r>
            <a:endParaRPr lang="en-US" altLang="ja-JP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altLang="ja-JP" sz="950" b="1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売却</a:t>
            </a:r>
            <a:endParaRPr lang="en-US" altLang="ja-JP" sz="950" dirty="0"/>
          </a:p>
        </p:txBody>
      </p:sp>
      <p:sp>
        <p:nvSpPr>
          <p:cNvPr id="18" name="Shape 15"/>
          <p:cNvSpPr/>
          <p:nvPr/>
        </p:nvSpPr>
        <p:spPr>
          <a:xfrm>
            <a:off x="6443472" y="5280660"/>
            <a:ext cx="798576" cy="0"/>
          </a:xfrm>
          <a:prstGeom prst="line">
            <a:avLst/>
          </a:prstGeom>
          <a:noFill/>
          <a:ln w="25400">
            <a:solidFill>
              <a:srgbClr val="F8BA0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15200" y="4617720"/>
            <a:ext cx="1325880" cy="1325880"/>
          </a:xfrm>
          <a:prstGeom prst="ellipse">
            <a:avLst/>
          </a:prstGeom>
          <a:solidFill>
            <a:srgbClr val="F9F6EF"/>
          </a:solidFill>
          <a:ln w="12700">
            <a:solidFill>
              <a:srgbClr val="F9F6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06640" y="4617720"/>
            <a:ext cx="1143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altLang="ja-JP" sz="950" b="1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花卉産業DX・</a:t>
            </a:r>
            <a:endParaRPr lang="en-US" altLang="ja-JP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altLang="ja-JP" sz="950" b="1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プラットフォーム</a:t>
            </a:r>
            <a:endParaRPr lang="en-US" altLang="ja-JP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altLang="ja-JP" sz="950" b="1" dirty="0">
                <a:solidFill>
                  <a:srgbClr val="1A1A1A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事業</a:t>
            </a:r>
            <a:endParaRPr lang="en-US" altLang="ja-JP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14</a:t>
            </a:fld>
            <a:endParaRPr lang="en-US" altLang="ja-JP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Team -</a:t>
            </a:r>
            <a:endParaRPr lang="en-US" alt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2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メンバー紹介</a:t>
            </a:r>
            <a:endParaRPr lang="en-US" altLang="ja-JP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44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Core members</a:t>
            </a:r>
            <a:endParaRPr lang="en-US" altLang="ja-JP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</a:t>
            </a:r>
            <a:endParaRPr lang="en-US" altLang="ja-JP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Confidential</a:t>
            </a:r>
            <a:endParaRPr lang="en-US" altLang="ja-JP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931920" cy="2240280"/>
          </a:xfrm>
          <a:prstGeom prst="roundRect">
            <a:avLst>
              <a:gd name="adj" fmla="val 5669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pic>
        <p:nvPicPr>
          <p:cNvPr id="9" name="Image 0" descr="member-komats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1234440" cy="12344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194560" y="1764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事業開発</a:t>
            </a:r>
            <a:endParaRPr lang="en-US" altLang="ja-JP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1984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4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小松 泰彦</a:t>
            </a:r>
            <a:endParaRPr lang="en-US" altLang="ja-JP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194560" y="2350008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東京工業大学環境・社会理工学院建築学系卒業後、ADKマーケティング・ソリューションズに入社。データ分析やメディアプランニングに従事。その後、学生時代にインターンとして関わっていたDomuzへ出戻り入社。</a:t>
            </a:r>
            <a:endParaRPr lang="en-US" altLang="ja-JP" sz="850" dirty="0"/>
          </a:p>
        </p:txBody>
      </p:sp>
      <p:sp>
        <p:nvSpPr>
          <p:cNvPr id="13" name="Shape 10"/>
          <p:cNvSpPr/>
          <p:nvPr/>
        </p:nvSpPr>
        <p:spPr>
          <a:xfrm>
            <a:off x="4709160" y="1508760"/>
            <a:ext cx="3931920" cy="2240280"/>
          </a:xfrm>
          <a:prstGeom prst="roundRect">
            <a:avLst>
              <a:gd name="adj" fmla="val 5669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pic>
        <p:nvPicPr>
          <p:cNvPr id="14" name="Image 1" descr="member-suzuk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11680"/>
            <a:ext cx="1234440" cy="12344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00800" y="1764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リードエンジニア</a:t>
            </a:r>
            <a:endParaRPr lang="en-US" altLang="ja-JP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1984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4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鈴木 新芽</a:t>
            </a:r>
            <a:endParaRPr lang="en-US" altLang="ja-JP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0" y="2350008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東京大学情報理工学修士卒業後、富士通に入社。ネットワークサービスの企画・運用、ブロックチェーンを軸にした新規事業開発を経てREAPRA Venturesに入社。投資先の共通テクノロジー支援を担当。2020年7月Domuzに参画。</a:t>
            </a:r>
            <a:endParaRPr lang="en-US" altLang="ja-JP" sz="850" dirty="0"/>
          </a:p>
        </p:txBody>
      </p:sp>
      <p:sp>
        <p:nvSpPr>
          <p:cNvPr id="18" name="Shape 14"/>
          <p:cNvSpPr/>
          <p:nvPr/>
        </p:nvSpPr>
        <p:spPr>
          <a:xfrm>
            <a:off x="502920" y="4023360"/>
            <a:ext cx="3931920" cy="2240280"/>
          </a:xfrm>
          <a:prstGeom prst="roundRect">
            <a:avLst>
              <a:gd name="adj" fmla="val 5669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pic>
        <p:nvPicPr>
          <p:cNvPr id="19" name="Image 2" descr="member-kadoik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26280"/>
            <a:ext cx="1234440" cy="12344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194560" y="4279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経営企画・HR</a:t>
            </a:r>
            <a:endParaRPr lang="en-US" altLang="ja-JP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2194560" y="4498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4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門池 金八</a:t>
            </a:r>
            <a:endParaRPr lang="en-US" altLang="ja-JP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2194560" y="4864608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東京大学卒業後、営業職を経て教育分野で起業。その後、教育系スタートアップ企業に参画し、プロダクトマネージャーやCOOなど様々なキャリアを積む。現在の主な専門領域はバックオフィス。2022年よりDomuzに参画。</a:t>
            </a:r>
            <a:endParaRPr lang="en-US" altLang="ja-JP" sz="850" dirty="0"/>
          </a:p>
        </p:txBody>
      </p:sp>
      <p:sp>
        <p:nvSpPr>
          <p:cNvPr id="23" name="Shape 18"/>
          <p:cNvSpPr/>
          <p:nvPr/>
        </p:nvSpPr>
        <p:spPr>
          <a:xfrm>
            <a:off x="4709160" y="4023360"/>
            <a:ext cx="3931920" cy="2240280"/>
          </a:xfrm>
          <a:prstGeom prst="roundRect">
            <a:avLst>
              <a:gd name="adj" fmla="val 5669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pic>
        <p:nvPicPr>
          <p:cNvPr id="24" name="Image 3" descr="member-sato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526280"/>
            <a:ext cx="1234440" cy="12344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00800" y="4279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900" spc="10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バイヤー</a:t>
            </a:r>
            <a:endParaRPr lang="en-US" altLang="ja-JP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0" y="4498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ja-JP" sz="14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佐藤 桃子</a:t>
            </a:r>
            <a:endParaRPr lang="en-US" altLang="ja-JP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0" y="4864608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altLang="ja-JP" sz="85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ハウスメーカーで造園・観葉植物などに携わったのち、観葉植物専門店の店長としてトータルでプロデュースを手掛ける。2022年よりアンドプランツに所属。著書に『INTERIOR GREEN 観葉植物と日常』（ブティック社）。他、監修本多数。</a:t>
            </a:r>
            <a:endParaRPr lang="en-US" altLang="ja-JP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15</a:t>
            </a:fld>
            <a:endParaRPr lang="en-US" altLang="ja-JP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Our Investor -</a:t>
            </a:r>
            <a:endParaRPr lang="en-US" alt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2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支援いただいているVC／エンジェル投資家</a:t>
            </a:r>
            <a:endParaRPr lang="en-US" altLang="ja-JP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44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Investors</a:t>
            </a:r>
            <a:endParaRPr lang="en-US" altLang="ja-JP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</a:t>
            </a:r>
            <a:endParaRPr lang="en-US" altLang="ja-JP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Confidential</a:t>
            </a:r>
            <a:endParaRPr lang="en-US" altLang="ja-JP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8138160" cy="960120"/>
          </a:xfrm>
          <a:prstGeom prst="roundRect">
            <a:avLst>
              <a:gd name="adj" fmla="val 13228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50876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altLang="ja-JP" sz="1000" spc="1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累計エクイティ調達額  </a:t>
            </a:r>
            <a:pPr algn="ctr" indent="0" marL="0">
              <a:lnSpc>
                <a:spcPct val="160000"/>
              </a:lnSpc>
              <a:buNone/>
            </a:pPr>
            <a:r>
              <a:rPr lang="en-US" altLang="ja-JP" sz="3200" b="1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4.4</a:t>
            </a:r>
            <a:pPr algn="ctr" indent="0" marL="0">
              <a:lnSpc>
                <a:spcPct val="160000"/>
              </a:lnSpc>
              <a:buNone/>
            </a:pPr>
            <a:r>
              <a:rPr lang="en-US" altLang="ja-JP" sz="1100" spc="1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 億円</a:t>
            </a:r>
            <a:pPr algn="ctr" indent="0" marL="0">
              <a:lnSpc>
                <a:spcPct val="160000"/>
              </a:lnSpc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（累計）</a:t>
            </a:r>
            <a:endParaRPr lang="en-US" altLang="ja-JP" sz="1100" dirty="0"/>
          </a:p>
        </p:txBody>
      </p:sp>
      <p:pic>
        <p:nvPicPr>
          <p:cNvPr id="10" name="Image 0" descr="investor-chiba-do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" y="2743200"/>
            <a:ext cx="731520" cy="731520"/>
          </a:xfrm>
          <a:prstGeom prst="rect">
            <a:avLst/>
          </a:prstGeom>
        </p:spPr>
      </p:pic>
      <p:pic>
        <p:nvPicPr>
          <p:cNvPr id="11" name="Image 1" descr="investor-new-commerce-ventu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873494"/>
            <a:ext cx="1127760" cy="470933"/>
          </a:xfrm>
          <a:prstGeom prst="rect">
            <a:avLst/>
          </a:prstGeom>
        </p:spPr>
      </p:pic>
      <p:pic>
        <p:nvPicPr>
          <p:cNvPr id="12" name="Image 2" descr="investor-ff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080" y="2782641"/>
            <a:ext cx="1127760" cy="652639"/>
          </a:xfrm>
          <a:prstGeom prst="rect">
            <a:avLst/>
          </a:prstGeom>
        </p:spPr>
      </p:pic>
      <p:pic>
        <p:nvPicPr>
          <p:cNvPr id="13" name="Image 3" descr="investor-pola-orbis-capit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953471"/>
            <a:ext cx="1127760" cy="310977"/>
          </a:xfrm>
          <a:prstGeom prst="rect">
            <a:avLst/>
          </a:prstGeom>
        </p:spPr>
      </p:pic>
      <p:pic>
        <p:nvPicPr>
          <p:cNvPr id="14" name="Image 4" descr="investor-value-chain-innovation-fu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240" y="2756113"/>
            <a:ext cx="1127760" cy="705694"/>
          </a:xfrm>
          <a:prstGeom prst="rect">
            <a:avLst/>
          </a:prstGeom>
        </p:spPr>
      </p:pic>
      <p:pic>
        <p:nvPicPr>
          <p:cNvPr id="15" name="Image 5" descr="investor-seibu-holdin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320" y="2920476"/>
            <a:ext cx="1127760" cy="376967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502920" y="36118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b="1" spc="200" kern="0" dirty="0">
                <a:solidFill>
                  <a:srgbClr val="404040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giftee</a:t>
            </a:r>
            <a:endParaRPr lang="en-US" altLang="ja-JP" sz="900" dirty="0"/>
          </a:p>
        </p:txBody>
      </p:sp>
      <p:sp>
        <p:nvSpPr>
          <p:cNvPr id="17" name="Shape 9"/>
          <p:cNvSpPr/>
          <p:nvPr/>
        </p:nvSpPr>
        <p:spPr>
          <a:xfrm>
            <a:off x="1417320" y="4069080"/>
            <a:ext cx="6309360" cy="0"/>
          </a:xfrm>
          <a:prstGeom prst="line">
            <a:avLst/>
          </a:prstGeom>
          <a:noFill/>
          <a:ln w="6350">
            <a:solidFill>
              <a:srgbClr val="E3E6E6"/>
            </a:solidFill>
            <a:prstDash val="solid"/>
          </a:ln>
        </p:spPr>
      </p:sp>
      <p:pic>
        <p:nvPicPr>
          <p:cNvPr id="18" name="Image 6" descr="angel-yanagisawa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297680"/>
            <a:ext cx="1005840" cy="100584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02920" y="5394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ファンコミュニケーションズ（A8.net）</a:t>
            </a:r>
            <a:endParaRPr lang="en-US" altLang="ja-JP" sz="800" dirty="0"/>
          </a:p>
        </p:txBody>
      </p:sp>
      <p:sp>
        <p:nvSpPr>
          <p:cNvPr id="20" name="Text 11"/>
          <p:cNvSpPr txBox="1"/>
          <p:nvPr/>
        </p:nvSpPr>
        <p:spPr>
          <a:xfrm>
            <a:off x="502920" y="5577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00" spc="10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創業者・元代表取締役社長</a:t>
            </a:r>
            <a:endParaRPr lang="en-US" altLang="ja-JP" sz="800" dirty="0"/>
          </a:p>
        </p:txBody>
      </p:sp>
      <p:sp>
        <p:nvSpPr>
          <p:cNvPr id="21" name="Text 12"/>
          <p:cNvSpPr txBox="1"/>
          <p:nvPr/>
        </p:nvSpPr>
        <p:spPr>
          <a:xfrm>
            <a:off x="502920" y="5779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12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柳澤 安慶</a:t>
            </a:r>
            <a:endParaRPr lang="en-US" altLang="ja-JP" sz="1200" dirty="0"/>
          </a:p>
        </p:txBody>
      </p:sp>
      <p:pic>
        <p:nvPicPr>
          <p:cNvPr id="22" name="Image 7" descr="angel-sugita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9080" y="4297680"/>
            <a:ext cx="1005840" cy="100584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3383280" y="5394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JMDC</a:t>
            </a:r>
            <a:endParaRPr lang="en-US" altLang="ja-JP" sz="800" dirty="0"/>
          </a:p>
        </p:txBody>
      </p:sp>
      <p:sp>
        <p:nvSpPr>
          <p:cNvPr id="24" name="Text 14"/>
          <p:cNvSpPr txBox="1"/>
          <p:nvPr/>
        </p:nvSpPr>
        <p:spPr>
          <a:xfrm>
            <a:off x="3383280" y="5577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00" spc="10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元COO</a:t>
            </a:r>
            <a:endParaRPr lang="en-US" altLang="ja-JP" sz="800" dirty="0"/>
          </a:p>
        </p:txBody>
      </p:sp>
      <p:sp>
        <p:nvSpPr>
          <p:cNvPr id="25" name="Text 15"/>
          <p:cNvSpPr txBox="1"/>
          <p:nvPr/>
        </p:nvSpPr>
        <p:spPr>
          <a:xfrm>
            <a:off x="3383280" y="5779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12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杉田 玲夢</a:t>
            </a:r>
            <a:endParaRPr lang="en-US" altLang="ja-JP" sz="1200" dirty="0"/>
          </a:p>
        </p:txBody>
      </p:sp>
      <p:sp>
        <p:nvSpPr>
          <p:cNvPr id="26" name="Shape 16"/>
          <p:cNvSpPr/>
          <p:nvPr/>
        </p:nvSpPr>
        <p:spPr>
          <a:xfrm>
            <a:off x="6949440" y="4297680"/>
            <a:ext cx="1005840" cy="1005840"/>
          </a:xfrm>
          <a:prstGeom prst="ellipse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7040880" y="42976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altLang="ja-JP" sz="1100" b="1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DNX</a:t>
            </a:r>
            <a:endParaRPr lang="en-US" altLang="ja-JP" sz="1100" dirty="0"/>
          </a:p>
        </p:txBody>
      </p:sp>
      <p:sp>
        <p:nvSpPr>
          <p:cNvPr id="28" name="Text 18"/>
          <p:cNvSpPr txBox="1"/>
          <p:nvPr/>
        </p:nvSpPr>
        <p:spPr>
          <a:xfrm>
            <a:off x="6263640" y="5394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DNX Ventures</a:t>
            </a:r>
            <a:endParaRPr lang="en-US" altLang="ja-JP" sz="800" dirty="0"/>
          </a:p>
        </p:txBody>
      </p:sp>
      <p:sp>
        <p:nvSpPr>
          <p:cNvPr id="29" name="Text 19"/>
          <p:cNvSpPr txBox="1"/>
          <p:nvPr/>
        </p:nvSpPr>
        <p:spPr>
          <a:xfrm>
            <a:off x="6263640" y="5577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00" spc="10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Managing Partner / Head of Japan</a:t>
            </a:r>
            <a:endParaRPr lang="en-US" altLang="ja-JP" sz="800" dirty="0"/>
          </a:p>
        </p:txBody>
      </p:sp>
      <p:sp>
        <p:nvSpPr>
          <p:cNvPr id="30" name="Text 20"/>
          <p:cNvSpPr txBox="1"/>
          <p:nvPr/>
        </p:nvSpPr>
        <p:spPr>
          <a:xfrm>
            <a:off x="6263640" y="5779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1200" b="1" spc="1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倉林 陽</a:t>
            </a:r>
            <a:endParaRPr lang="en-US" altLang="ja-JP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502920" y="612648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spc="1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等 その他5名</a:t>
            </a:r>
            <a:endParaRPr lang="en-US" altLang="ja-JP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16</a:t>
            </a:fld>
            <a:endParaRPr lang="en-US" altLang="ja-JP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- Company -</a:t>
            </a:r>
            <a:endParaRPr lang="en-US" alt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2600" b="1" spc="200" kern="0" dirty="0">
                <a:solidFill>
                  <a:srgbClr val="00434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会社概要</a:t>
            </a:r>
            <a:endParaRPr lang="en-US" altLang="ja-JP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44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850" spc="350" kern="0" dirty="0">
                <a:solidFill>
                  <a:srgbClr val="598487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Corporate profile</a:t>
            </a:r>
            <a:endParaRPr lang="en-US" altLang="ja-JP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 inc.</a:t>
            </a:r>
            <a:endParaRPr lang="en-US" altLang="ja-JP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Confidential</a:t>
            </a:r>
            <a:endParaRPr lang="en-US" altLang="ja-JP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929292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600200"/>
          <a:ext cx="7040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303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b="1" dirty="0">
                          <a:solidFill>
                            <a:srgbClr val="004347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会社名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dirty="0">
                          <a:solidFill>
                            <a:srgbClr val="404040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株式会社Domuz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b="1" dirty="0">
                          <a:solidFill>
                            <a:srgbClr val="004347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所在地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dirty="0">
                          <a:solidFill>
                            <a:srgbClr val="404040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神奈川県川崎市中原区小杉御殿町2-69-6 2F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b="1" dirty="0">
                          <a:solidFill>
                            <a:srgbClr val="004347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代表取締役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dirty="0">
                          <a:solidFill>
                            <a:srgbClr val="404040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髙木 弘貴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b="1" dirty="0">
                          <a:solidFill>
                            <a:srgbClr val="004347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創業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dirty="0">
                          <a:solidFill>
                            <a:srgbClr val="404040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2018年10月（花卉産業DX事業の開始は2021年5月）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b="1" dirty="0">
                          <a:solidFill>
                            <a:srgbClr val="004347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資本金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dirty="0">
                          <a:solidFill>
                            <a:srgbClr val="404040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1億円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b="1" dirty="0">
                          <a:solidFill>
                            <a:srgbClr val="004347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従業員数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dirty="0">
                          <a:solidFill>
                            <a:srgbClr val="404040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65名（社員20名、アルバイト43名）※2025年10月現在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b="1" dirty="0">
                          <a:solidFill>
                            <a:srgbClr val="004347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主要取引銀行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dirty="0">
                          <a:solidFill>
                            <a:srgbClr val="404040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みずほ銀行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b="1" dirty="0">
                          <a:solidFill>
                            <a:srgbClr val="004347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運営サービス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dirty="0">
                          <a:solidFill>
                            <a:srgbClr val="404040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AND PLANTS（観葉植物・生花EC）／ AND FLOWER（フラワーギフトEC）／ ハナイチ（花卉事業者向け卸マーケットプレイス）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b="1" dirty="0">
                          <a:solidFill>
                            <a:srgbClr val="004347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URL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ja-JP" sz="1050" dirty="0">
                          <a:solidFill>
                            <a:srgbClr val="404040"/>
                          </a:solidFill>
                          <a:latin typeface="Century Gothic" pitchFamily="34" charset="0"/>
                          <a:ea typeface="Hiragino Sans"/>
                          <a:cs typeface="Century Gothic" pitchFamily="34" charset="-120"/>
                        </a:rPr>
                        <a:t>https://domuz.jp/　／　https://andplants.jp/　／　https://hana-ichi.jp/</a:t>
                      </a:r>
                      <a:endParaRPr lang="en-US" altLang="ja-JP" sz="1050" dirty="0">
                        <a:latin typeface="Century Gothic" charset="0"/>
                        <a:ea typeface="Hiragino Sans"/>
                        <a:cs typeface="Century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26680" y="6400800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29292"/>
                </a:solidFill>
                <a:latin typeface="Century Gothic"/>
                <a:ea typeface="Hiragino Sans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 altLang="ja-JP"/>
              <a:t>17</a:t>
            </a:fld>
            <a:endParaRPr lang="en-US" altLang="ja-JP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4231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ja-JP" sz="4000" b="1" spc="800" kern="0" dirty="0">
                <a:solidFill>
                  <a:srgbClr val="FFFFFF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Domuz</a:t>
            </a:r>
            <a:endParaRPr lang="en-US" altLang="ja-JP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291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spc="300" kern="0" dirty="0">
                <a:solidFill>
                  <a:srgbClr val="A5BCBE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花卉産業DX／プラットフォーム</a:t>
            </a:r>
            <a:endParaRPr lang="en-US" altLang="ja-JP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spc="150" kern="0" dirty="0">
                <a:solidFill>
                  <a:srgbClr val="A5BCBE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https://domuz.jp/</a:t>
            </a:r>
            <a:endParaRPr lang="en-US" alt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spc="150" kern="0" dirty="0">
                <a:solidFill>
                  <a:srgbClr val="A5BCBE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https://andplants.jp/</a:t>
            </a:r>
            <a:endParaRPr lang="en-US" altLang="ja-JP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3891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ja-JP" sz="900" spc="150" kern="0" dirty="0">
                <a:solidFill>
                  <a:srgbClr val="A5BCBE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https://hana-ichi.jp/</a:t>
            </a:r>
            <a:endParaRPr lang="en-US" altLang="ja-JP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ja-JP" sz="750" spc="200" kern="0" dirty="0">
                <a:solidFill>
                  <a:srgbClr val="A5BCBE"/>
                </a:solidFill>
                <a:latin typeface="Century Gothic" pitchFamily="34" charset="0"/>
                <a:ea typeface="Hiragino Sans"/>
                <a:cs typeface="Century Gothic" pitchFamily="34" charset="-120"/>
              </a:rPr>
              <a:t>Copyright (C) Domuz inc, All Rights Reserved.</a:t>
            </a:r>
            <a:endParaRPr lang="en-US" altLang="ja-JP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 panose="020F0302020204030204"/>
        <a:ea typeface="Hiragino Sans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 panose="020F0502020204030204"/>
        <a:ea typeface="Hiragino San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Domuz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Domuz 会社概要</dc:title>
  <dc:subject>PptxGenJS Presentation</dc:subject>
  <dc:creator>Domuz inc.</dc:creator>
  <cp:lastModifiedBy>Domuz inc.</cp:lastModifiedBy>
  <cp:revision>1</cp:revision>
  <dcterms:created xsi:type="dcterms:W3CDTF">2026-09-16T10:54:15Z</dcterms:created>
  <dcterms:modified xsi:type="dcterms:W3CDTF">2026-09-16T10:54:15Z</dcterms:modified>
</cp:coreProperties>
</file>